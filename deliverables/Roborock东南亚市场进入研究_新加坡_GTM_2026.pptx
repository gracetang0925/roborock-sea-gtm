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847062f3404354" /><Relationship Type="http://schemas.openxmlformats.org/officeDocument/2006/relationships/extended-properties" Target="/docProps/app.xml" Id="Raa856abb91494fdf" /><Relationship Type="http://schemas.openxmlformats.org/officeDocument/2006/relationships/officeDocument" Target="/ppt/presentation.xml" Id="Re875fcc746024c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ef57782359458a"/>
  </p:sldMasterIdLst>
  <p:notesMasterIdLst>
    <p:notesMasterId xmlns:r="http://schemas.openxmlformats.org/officeDocument/2006/relationships" r:id="R167e18156da64ba9"/>
  </p:notesMasterIdLst>
  <p:sldIdLst>
    <p:sldId xmlns:r="http://schemas.openxmlformats.org/officeDocument/2006/relationships" id="256" r:id="R7793856c0b4b4044"/>
    <p:sldId xmlns:r="http://schemas.openxmlformats.org/officeDocument/2006/relationships" id="257" r:id="R83d7a73e303442c8"/>
    <p:sldId xmlns:r="http://schemas.openxmlformats.org/officeDocument/2006/relationships" id="258" r:id="R4efba2ae1f054bdd"/>
    <p:sldId xmlns:r="http://schemas.openxmlformats.org/officeDocument/2006/relationships" id="259" r:id="R38dd5c31f7d94951"/>
    <p:sldId xmlns:r="http://schemas.openxmlformats.org/officeDocument/2006/relationships" id="260" r:id="R34ce051df6a54284"/>
    <p:sldId xmlns:r="http://schemas.openxmlformats.org/officeDocument/2006/relationships" id="261" r:id="Rc5a85577b8db450b"/>
    <p:sldId xmlns:r="http://schemas.openxmlformats.org/officeDocument/2006/relationships" id="262" r:id="Rddca91d5846344e3"/>
    <p:sldId xmlns:r="http://schemas.openxmlformats.org/officeDocument/2006/relationships" id="263" r:id="Rac310c20f328448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cd48da8abf4d43" /><Relationship Type="http://schemas.openxmlformats.org/officeDocument/2006/relationships/slideMaster" Target="/ppt/slideMasters/slideMaster1.xml" Id="R30ef57782359458a" /><Relationship Type="http://schemas.openxmlformats.org/officeDocument/2006/relationships/notesMaster" Target="/ppt/notesMasters/notesMaster1.xml" Id="R167e18156da64ba9" /><Relationship Type="http://schemas.openxmlformats.org/officeDocument/2006/relationships/presProps" Target="/ppt/presProps.xml" Id="R15a3fa0d6971439e" /><Relationship Type="http://schemas.openxmlformats.org/officeDocument/2006/relationships/tableStyles" Target="/ppt/tableStyles.xml" Id="R4b50a91bbe0144af" /><Relationship Type="http://schemas.openxmlformats.org/officeDocument/2006/relationships/slide" Target="/ppt/slides/slide1.xml" Id="R7793856c0b4b4044" /><Relationship Type="http://schemas.openxmlformats.org/officeDocument/2006/relationships/slide" Target="/ppt/slides/slide2.xml" Id="R83d7a73e303442c8" /><Relationship Type="http://schemas.openxmlformats.org/officeDocument/2006/relationships/slide" Target="/ppt/slides/slide3.xml" Id="R4efba2ae1f054bdd" /><Relationship Type="http://schemas.openxmlformats.org/officeDocument/2006/relationships/slide" Target="/ppt/slides/slide4.xml" Id="R38dd5c31f7d94951" /><Relationship Type="http://schemas.openxmlformats.org/officeDocument/2006/relationships/slide" Target="/ppt/slides/slide5.xml" Id="R34ce051df6a54284" /><Relationship Type="http://schemas.openxmlformats.org/officeDocument/2006/relationships/slide" Target="/ppt/slides/slide6.xml" Id="Rc5a85577b8db450b" /><Relationship Type="http://schemas.openxmlformats.org/officeDocument/2006/relationships/slide" Target="/ppt/slides/slide7.xml" Id="Rddca91d5846344e3" /><Relationship Type="http://schemas.openxmlformats.org/officeDocument/2006/relationships/slide" Target="/ppt/slides/slide8.xml" Id="Rac310c20f32844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9ec7d254594d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28cae80ad74347" /><Relationship Type="http://schemas.openxmlformats.org/officeDocument/2006/relationships/notesMaster" Target="/ppt/notesMasters/notesMaster1.xml" Id="R6739a487faed4f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a485980f414e39" /><Relationship Type="http://schemas.openxmlformats.org/officeDocument/2006/relationships/notesMaster" Target="/ppt/notesMasters/notesMaster1.xml" Id="Reb24ebcd56cd4d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08fe55061c4246" /><Relationship Type="http://schemas.openxmlformats.org/officeDocument/2006/relationships/notesMaster" Target="/ppt/notesMasters/notesMaster1.xml" Id="R5251f3ede6fb47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657fa4ebd24d1c" /><Relationship Type="http://schemas.openxmlformats.org/officeDocument/2006/relationships/notesMaster" Target="/ppt/notesMasters/notesMaster1.xml" Id="Rce2e18a859af46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51f47f248d4f06" /><Relationship Type="http://schemas.openxmlformats.org/officeDocument/2006/relationships/notesMaster" Target="/ppt/notesMasters/notesMaster1.xml" Id="R69c3e9003a0246e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fb8ac1185f48bd" /><Relationship Type="http://schemas.openxmlformats.org/officeDocument/2006/relationships/notesMaster" Target="/ppt/notesMasters/notesMaster1.xml" Id="R63f3ded267b9436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dc51e6afc724154" /><Relationship Type="http://schemas.openxmlformats.org/officeDocument/2006/relationships/notesMaster" Target="/ppt/notesMasters/notesMaster1.xml" Id="R42a76bafe3aa4a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0a4bc9ff7274b45" /><Relationship Type="http://schemas.openxmlformats.org/officeDocument/2006/relationships/notesMaster" Target="/ppt/notesMasters/notesMaster1.xml" Id="R2ab1ffaafb0b44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 image is AI-generated for this independent research project. It is not an official Roborock image or a real customer deployment.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AI-generated asset: portfolio-site/public/og.png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MOM reported about 300,000 migrant domestic workers in 2025 and linked demand to elderly care and dual-income households.</a:t>
            </a:r>
          </a:p>
          <a:p xmlns:a="http://schemas.openxmlformats.org/drawingml/2006/main">
            <a:r>
              <a:t>SingStat reported 1.4871 million resident households in 2025. MOM reported the Household Services Scheme grew to around 240 companies.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https://www.mom.gov.sg/newsroom/speeches/2026/0113-response-to-adj-motion-on-mdws</a:t>
            </a:r>
          </a:p>
          <a:p xmlns:a="http://schemas.openxmlformats.org/drawingml/2006/main">
            <a:r>
              <a:t>https://www.mom.gov.sg/faq/work-permit-for-foreign-worker/what-is-household-services-scheme</a:t>
            </a:r>
          </a:p>
          <a:p xmlns:a="http://schemas.openxmlformats.org/drawingml/2006/main">
            <a:r>
              <a:t>https://www.singstat.gov.sg/publications/reference/ebook/households/households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two operating models are author synthesis. Reddit examples indicate some Singapore households combine daily robot cleaning with periodic human deep cleaning; they are qualitative, not representative.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https://www.mom.gov.sg/faq/work-permit-for-foreign-worker/what-is-household-services-scheme</a:t>
            </a:r>
          </a:p>
          <a:p xmlns:a="http://schemas.openxmlformats.org/drawingml/2006/main">
            <a:r>
              <a:t>https://www.reddit.com/r/askSingapore/comments/1foz7te/</a:t>
            </a:r>
          </a:p>
          <a:p xmlns:a="http://schemas.openxmlformats.org/drawingml/2006/main">
            <a:r>
              <a:t>https://www.reddit.com/r/askSingapore/comments/1gt649h/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Indicative promotional prices observed on the Roborock Singapore official store on 25 July 2026; prices and configurations change by campaign.</a:t>
            </a:r>
          </a:p>
          <a:p xmlns:a="http://schemas.openxmlformats.org/drawingml/2006/main">
            <a:r>
              <a:t>Saros 20 official claims include 36,000 Pa suction, 7.98 cm body height and threshold-handling features. Product-to-value translations and portfolio roles are author recommendations.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https://www.roborock.sg/collections/roborock-robotic</a:t>
            </a:r>
          </a:p>
          <a:p xmlns:a="http://schemas.openxmlformats.org/drawingml/2006/main">
            <a:r>
              <a:t>https://www.roborock.sg/collections/qrevo</a:t>
            </a:r>
          </a:p>
          <a:p xmlns:a="http://schemas.openxmlformats.org/drawingml/2006/main">
            <a:r>
              <a:t>https://www.roborock.sg/collections/saros</a:t>
            </a:r>
          </a:p>
          <a:p xmlns:a="http://schemas.openxmlformats.org/drawingml/2006/main">
            <a:r>
              <a:t>https://www.roborock.sg/products/roborock-saros-20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Prices are promotional snapshots, not permanent list prices. Roborock competitive positioning is author synthesis.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https://www.roborock.sg/collections/saros</a:t>
            </a:r>
          </a:p>
          <a:p xmlns:a="http://schemas.openxmlformats.org/drawingml/2006/main">
            <a:r>
              <a:t>https://dreame.sg/collections/robot-vacuum</a:t>
            </a:r>
          </a:p>
          <a:p xmlns:a="http://schemas.openxmlformats.org/drawingml/2006/main">
            <a:r>
              <a:t>https://dreame.sg/products/dreame-x60-ultra-master</a:t>
            </a:r>
          </a:p>
          <a:p xmlns:a="http://schemas.openxmlformats.org/drawingml/2006/main">
            <a:r>
              <a:t>https://www.ecovacs.com/sg/deebot-robotic-vacuum-cleaner/deebot-x11-omnicyclone</a:t>
            </a:r>
          </a:p>
          <a:p xmlns:a="http://schemas.openxmlformats.org/drawingml/2006/main">
            <a:r>
              <a:t>https://ecovacstineco.com.sg/products/ecovacs-deebot-x11-omnicyclone</a:t>
            </a:r>
          </a:p>
          <a:p xmlns:a="http://schemas.openxmlformats.org/drawingml/2006/main">
            <a:r>
              <a:t>https://sg.narwal.com/products/narwal-flow-2-robot-vacuum-mop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Roborock Singapore lists a local service centre at 35 Tampines Street 92 and official store support including warranty, repair, installation, accessories, trade-in/refurbished and extended warranty options. Exact programme availability can change.</a:t>
            </a:r>
          </a:p>
          <a:p xmlns:a="http://schemas.openxmlformats.org/drawingml/2006/main">
            <a:r>
              <a:t>Channel journey and objection responses are author recommendations.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https://sg.roborock.com/pages/contact-us</a:t>
            </a:r>
          </a:p>
          <a:p xmlns:a="http://schemas.openxmlformats.org/drawingml/2006/main">
            <a:r>
              <a:t>https://www.roborock.sg/collections/show-lisitngs</a:t>
            </a:r>
          </a:p>
          <a:p xmlns:a="http://schemas.openxmlformats.org/drawingml/2006/main">
            <a:r>
              <a:t>https://www.roborock.sg/collections/accessories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proposed use-case blueprint and test plan, not a measured customer outcome.</a:t>
            </a:r>
          </a:p>
          <a:p xmlns:a="http://schemas.openxmlformats.org/drawingml/2006/main">
            <a:r>
              <a:t>Reddit examples suggest some Singapore households use robots daily and retain weekly, fortnightly or monthly manual deep-cleaning. These comments are qualitative and not representative.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https://www.reddit.com/r/askSingapore/comments/1foz7te/</a:t>
            </a:r>
          </a:p>
          <a:p xmlns:a="http://schemas.openxmlformats.org/drawingml/2006/main">
            <a:r>
              <a:t>https://www.reddit.com/r/askSingapore/comments/1uihujj/</a:t>
            </a:r>
          </a:p>
          <a:p xmlns:a="http://schemas.openxmlformats.org/drawingml/2006/main">
            <a:r>
              <a:t>https://www.mom.gov.sg/faq/work-permit-for-foreign-worker/what-is-household-services-scheme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Roborock lists official local country sites across Singapore, Malaysia, Indonesia, Thailand and Vietnam. The order, hero-product choices and market-entry actions are author recommendations, not official Roborock plans.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https://sg.roborock.com/pages/switch-country</a:t>
            </a:r>
          </a:p>
          <a:p xmlns:a="http://schemas.openxmlformats.org/drawingml/2006/main">
            <a:r>
              <a:t>https://sg.roborock.com/pages/about-us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cf65303cbe4c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d2afc335634af7" /><Relationship Type="http://schemas.openxmlformats.org/officeDocument/2006/relationships/slideLayout" Target="/ppt/slideLayouts/slideLayout1.xml" Id="R61eb3589829e46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eb3589829e46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9864dd0adc47e6" /><Relationship Type="http://schemas.openxmlformats.org/officeDocument/2006/relationships/image" Target="/ppt/media/image.png" Id="R047e1a96821c4967" /><Relationship Type="http://schemas.openxmlformats.org/officeDocument/2006/relationships/notesSlide" Target="/ppt/notesSlides/notesSlide1.xml" Id="R032675674ccb40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fe2711574247cc" /><Relationship Type="http://schemas.openxmlformats.org/officeDocument/2006/relationships/notesSlide" Target="/ppt/notesSlides/notesSlide2.xml" Id="R1b29050ff59e40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833efae5cd4511" /><Relationship Type="http://schemas.openxmlformats.org/officeDocument/2006/relationships/notesSlide" Target="/ppt/notesSlides/notesSlide3.xml" Id="R39225b21ff1048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66867c961a484f" /><Relationship Type="http://schemas.openxmlformats.org/officeDocument/2006/relationships/notesSlide" Target="/ppt/notesSlides/notesSlide4.xml" Id="R46f0bd6dad2940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a073aa2d5f4020" /><Relationship Type="http://schemas.openxmlformats.org/officeDocument/2006/relationships/notesSlide" Target="/ppt/notesSlides/notesSlide5.xml" Id="Re59278fb75e042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e3b2fc2be84dbf" /><Relationship Type="http://schemas.openxmlformats.org/officeDocument/2006/relationships/notesSlide" Target="/ppt/notesSlides/notesSlide6.xml" Id="R6e6ee0ec98d647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595821115d4c1b" /><Relationship Type="http://schemas.openxmlformats.org/officeDocument/2006/relationships/notesSlide" Target="/ppt/notesSlides/notesSlide7.xml" Id="Rdd94a5ee1f8f487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adecd4e3144622" /><Relationship Type="http://schemas.openxmlformats.org/officeDocument/2006/relationships/notesSlide" Target="/ppt/notesSlides/notesSlide8.xml" Id="Rbe4efd42db3e464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7e1a96821c4967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7D0F84-8FC7-485B-97EB-5FBE3F99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124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5"/>
          </a:solidFill>
          <a:ln xmlns:a="http://schemas.openxmlformats.org/drawingml/2006/main" w="0">
            <a:solidFill>
              <a:srgbClr val="F3EFE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4AF56E-15B6-4F6D-A975-EB32EA63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76200" cy="624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28"/>
          </a:solidFill>
          <a:ln xmlns:a="http://schemas.openxmlformats.org/drawingml/2006/main" w="0">
            <a:solidFill>
              <a:srgbClr val="102F28"/>
            </a:solidFill>
            <a:prstDash val="solid"/>
          </a:ln>
        </p:spPr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495300" y="809625"/>
            <a:ext cx="54292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F28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13A16-3449-4CA3-8202-69F2D8EF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714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5034"/>
          </a:solidFill>
          <a:ln xmlns:a="http://schemas.openxmlformats.org/drawingml/2006/main" w="0">
            <a:solidFill>
              <a:srgbClr val="C8503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4DE5FA-C980-46C7-B101-A1D4CA3A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"/>
            <a:ext cx="4286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5034"/>
                </a:solidFill>
                <a:latin typeface="Arial"/>
                <a:ea typeface="Arial"/>
                <a:cs typeface="Arial"/>
              </a:defRPr>
            </a:pPr>
            <a:r>
              <a:t>INDEPENDENT GTM RESEARCH ·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9A3AFD-BE58-4C34-B44E-D2F11749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47800"/>
            <a:ext cx="571500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0" i="0">
                <a:solidFill>
                  <a:srgbClr val="102F28"/>
                </a:solidFill>
                <a:latin typeface="Georgia"/>
                <a:ea typeface="Georgia"/>
                <a:cs typeface="Georgia"/>
              </a:defRPr>
            </a:pPr>
            <a:r>
              <a:t>Roborock 如何打开
东南亚市场？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F72DA7-6313-47CE-8685-55C36908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52197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C6655"/>
                </a:solidFill>
                <a:latin typeface="Arial"/>
                <a:ea typeface="Arial"/>
                <a:cs typeface="Arial"/>
              </a:defRPr>
            </a:pPr>
            <a:r>
              <a:t>清洁机器人还是女佣雇佣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838200" y="4038600"/>
            <a:ext cx="476250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85034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CE3988-C879-4E92-A264-4F289EE4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104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C85034"/>
                </a:solidFill>
                <a:latin typeface="Arial"/>
                <a:ea typeface="Arial"/>
                <a:cs typeface="Arial"/>
              </a:defRPr>
            </a:pPr>
            <a:r>
              <a:t>核心判断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D9761E-6391-4160-96A2-FD3C08CB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5143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F28"/>
                </a:solidFill>
                <a:latin typeface="Georgia"/>
                <a:ea typeface="Georgia"/>
                <a:cs typeface="Georgia"/>
              </a:defRPr>
            </a:pPr>
            <a:r>
              <a:t>不是替代女佣，而是每天维持干净。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F9783A-F224-4640-ACFF-4D38672C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0"/>
            <a:ext cx="2381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F28"/>
                </a:solidFill>
                <a:latin typeface="Arial"/>
                <a:ea typeface="Arial"/>
                <a:cs typeface="Arial"/>
              </a:defRPr>
            </a:pPr>
            <a:r>
              <a:t>Grace 汤夏禛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204B85-F2BD-4CA3-9376-ADE9EDA0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15050"/>
            <a:ext cx="428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65716B"/>
                </a:solidFill>
                <a:latin typeface="Arial"/>
                <a:ea typeface="Arial"/>
                <a:cs typeface="Arial"/>
              </a:defRPr>
            </a:pPr>
            <a:r>
              <a:t>Nanyang Technological University, Singapore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725896-D935-4988-835B-F9A52EB5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496050"/>
            <a:ext cx="38862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13" b="0" i="0">
                <a:solidFill>
                  <a:srgbClr val="65716B"/>
                </a:solidFill>
                <a:latin typeface="Arial"/>
                <a:ea typeface="Arial"/>
                <a:cs typeface="Arial"/>
              </a:defRPr>
            </a:pPr>
            <a:r>
              <a:t>AI-generated editorial illustration · not an official product image</a:t>
            </a:r>
          </a:p>
        </p:txBody>
      </p:sp>
    </p:spTree>
    <p:extLst>
      <p:ext uri="{BB962C8B-B14F-4D97-AF65-F5344CB8AC3E}">
        <p14:creationId xmlns:p14="http://schemas.microsoft.com/office/powerpoint/2010/main" val="6639804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CCF202-6A56-4D37-ACC8-9B04B4D6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000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85034"/>
                </a:solidFill>
                <a:latin typeface="Arial"/>
                <a:ea typeface="Arial"/>
                <a:cs typeface="Arial"/>
              </a:defRPr>
            </a:pPr>
            <a:r>
              <a:t>01  HOUSEHOLD TRUTH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367B13-BF26-4EE5-9091-37D40C11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"/>
            <a:ext cx="111252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102F28"/>
                </a:solidFill>
                <a:latin typeface="Georgia"/>
                <a:ea typeface="Georgia"/>
                <a:cs typeface="Georgia"/>
              </a:defRPr>
            </a:pPr>
            <a:r>
              <a:t>新加坡家庭仍需要人：机器人只覆盖“地面”这一层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495300" y="1362075"/>
            <a:ext cx="111252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4B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E9C104-9118-4038-BE92-F7AD0CF3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0191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65716B"/>
                </a:solidFill>
                <a:latin typeface="Arial"/>
                <a:ea typeface="Arial"/>
                <a:cs typeface="Arial"/>
              </a:defRPr>
            </a:pPr>
            <a:r>
              <a:t>Sources: Singapore MOM (2026); SingStat households; research cut-off 25 Jul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2216E4-D803-4616-BC76-8FE3048F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48425"/>
            <a:ext cx="552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C85034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6DA2D0-938F-4D7E-82C2-1BF64446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34290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0" i="0">
                <a:solidFill>
                  <a:srgbClr val="1C6655"/>
                </a:solidFill>
                <a:latin typeface="Georgia"/>
                <a:ea typeface="Georgia"/>
                <a:cs typeface="Georgia"/>
              </a:defRPr>
            </a:pPr>
            <a:r>
              <a:t>~300K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81C705-CE8E-4D93-BF72-B190B212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2890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2F28"/>
                </a:solidFill>
                <a:latin typeface="Arial"/>
                <a:ea typeface="Arial"/>
                <a:cs typeface="Arial"/>
              </a:defRPr>
            </a:pPr>
            <a:r>
              <a:t>外籍家庭佣工，2025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E579EF-60E5-4C30-BFB9-EF893B63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86100"/>
            <a:ext cx="37147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5716B"/>
                </a:solidFill>
                <a:latin typeface="Arial"/>
                <a:ea typeface="Arial"/>
                <a:cs typeface="Arial"/>
              </a:defRPr>
            </a:pPr>
            <a:r>
              <a:t>双职工家庭与老人照护继续驱动需求。清洁只是女佣工作的一部分；照护、做饭、整理与判断无法被地面机器人替代。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495300" y="4457700"/>
            <a:ext cx="37528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4B8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5A60F1-845C-4877-B8C7-37508526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95825"/>
            <a:ext cx="1571625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 i="0">
                <a:solidFill>
                  <a:srgbClr val="102F28"/>
                </a:solidFill>
                <a:latin typeface="Georgia"/>
                <a:ea typeface="Georgia"/>
                <a:cs typeface="Georgia"/>
              </a:defRPr>
            </a:pPr>
            <a:r>
              <a:t>1.49M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FDC282-05ED-49A4-AD71-6932AA81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19700"/>
            <a:ext cx="15716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5716B"/>
                </a:solidFill>
                <a:latin typeface="Arial"/>
                <a:ea typeface="Arial"/>
                <a:cs typeface="Arial"/>
              </a:defRPr>
            </a:pPr>
            <a:r>
              <a:t>居民家庭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B67520-7974-4081-B80A-85E614A0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95825"/>
            <a:ext cx="1238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 i="0">
                <a:solidFill>
                  <a:srgbClr val="C85034"/>
                </a:solidFill>
                <a:latin typeface="Georgia"/>
                <a:ea typeface="Georgia"/>
                <a:cs typeface="Georgia"/>
              </a:defRPr>
            </a:pPr>
            <a:r>
              <a:t>240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A100E9-85A8-491B-96B5-4F82D509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19700"/>
            <a:ext cx="142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5716B"/>
                </a:solidFill>
                <a:latin typeface="Arial"/>
                <a:ea typeface="Arial"/>
                <a:cs typeface="Arial"/>
              </a:defRPr>
            </a:pPr>
            <a:r>
              <a:t>HSS 公司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51C7C2-275B-4323-9803-9CEA3E8B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685925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C85034"/>
                </a:solidFill>
                <a:latin typeface="Arial"/>
                <a:ea typeface="Arial"/>
                <a:cs typeface="Arial"/>
              </a:defRPr>
            </a:pPr>
            <a:r>
              <a:t>人机任务分层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AFC8FE-1208-4F54-BAF9-88A4F136D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52650"/>
            <a:ext cx="6572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655"/>
          </a:solidFill>
          <a:ln xmlns:a="http://schemas.openxmlformats.org/drawingml/2006/main" w="0">
            <a:solidFill>
              <a:srgbClr val="1C66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13C092-2996-4486-99E0-2701CE22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352675"/>
            <a:ext cx="95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3EFE5"/>
                </a:solidFill>
                <a:latin typeface="Arial"/>
                <a:ea typeface="Arial"/>
                <a:cs typeface="Arial"/>
              </a:defRPr>
            </a:pPr>
            <a:r>
              <a:t>每日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154AAD-5DE5-47ED-9785-A8C3365A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14575"/>
            <a:ext cx="4667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t>机器人：灰尘、毛发、例行扫拖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C4A3B4-A46C-4C05-8DB6-4FA4F2CC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24150"/>
            <a:ext cx="285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F3EFE5"/>
                </a:solidFill>
                <a:latin typeface="Arial"/>
                <a:ea typeface="Arial"/>
                <a:cs typeface="Arial"/>
              </a:defRPr>
            </a:pPr>
            <a:r>
              <a:t>标准化 · 高频 · 可定时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F2FBA4-D0BD-4776-A81C-46E7512D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19450"/>
            <a:ext cx="6572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3D7"/>
          </a:solidFill>
          <a:ln xmlns:a="http://schemas.openxmlformats.org/drawingml/2006/main" w="0">
            <a:solidFill>
              <a:srgbClr val="E8E3D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BDB642-A3C5-44F4-A40D-747103E9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419475"/>
            <a:ext cx="95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F28"/>
                </a:solidFill>
                <a:latin typeface="Arial"/>
                <a:ea typeface="Arial"/>
                <a:cs typeface="Arial"/>
              </a:defRPr>
            </a:pPr>
            <a:r>
              <a:t>每周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AA723D-33FD-4E2A-B902-699F8D17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81375"/>
            <a:ext cx="4667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F28"/>
                </a:solidFill>
                <a:latin typeface="Georgia"/>
                <a:ea typeface="Georgia"/>
                <a:cs typeface="Georgia"/>
              </a:defRPr>
            </a:pPr>
            <a:r>
              <a:t>人工：厨房、浴室、边角、湿污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9FC7E6-8005-4662-9E5C-320C6192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90950"/>
            <a:ext cx="285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5716B"/>
                </a:solidFill>
                <a:latin typeface="Arial"/>
                <a:ea typeface="Arial"/>
                <a:cs typeface="Arial"/>
              </a:defRPr>
            </a:pPr>
            <a:r>
              <a:t>复杂 · 需要判断 · 不规则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47FDAF-CAE8-4275-8D04-49967C1C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286250"/>
            <a:ext cx="6572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0"/>
          </a:solidFill>
          <a:ln xmlns:a="http://schemas.openxmlformats.org/drawingml/2006/main" w="9525">
            <a:solidFill>
              <a:srgbClr val="C8C4B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207A55-41A6-4E28-A720-C08E549B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486275"/>
            <a:ext cx="95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F28"/>
                </a:solidFill>
                <a:latin typeface="Arial"/>
                <a:ea typeface="Arial"/>
                <a:cs typeface="Arial"/>
              </a:defRPr>
            </a:pPr>
            <a:r>
              <a:t>长期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4359E2-0B74-4178-803D-12EF2AEA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48175"/>
            <a:ext cx="4667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F28"/>
                </a:solidFill>
                <a:latin typeface="Georgia"/>
                <a:ea typeface="Georgia"/>
                <a:cs typeface="Georgia"/>
              </a:defRPr>
            </a:pPr>
            <a:r>
              <a:t>人：照护、烹饪、整理与家庭管理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F56CCB-AD88-415B-B4CE-480788B1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57750"/>
            <a:ext cx="285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5716B"/>
                </a:solidFill>
                <a:latin typeface="Arial"/>
                <a:ea typeface="Arial"/>
                <a:cs typeface="Arial"/>
              </a:defRPr>
            </a:pPr>
            <a:r>
              <a:t>关系 · 责任 · 情境判断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1AC98F-E99C-4DA5-B317-50786D02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495925"/>
            <a:ext cx="6572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28"/>
          </a:solidFill>
          <a:ln xmlns:a="http://schemas.openxmlformats.org/drawingml/2006/main" w="0">
            <a:solidFill>
              <a:srgbClr val="102F2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56C2C9-FADA-4A8B-AFBA-0715A2AB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648325"/>
            <a:ext cx="6115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3EFE5"/>
                </a:solidFill>
                <a:latin typeface="Arial"/>
                <a:ea typeface="Arial"/>
                <a:cs typeface="Arial"/>
              </a:defRPr>
            </a:pPr>
            <a:r>
              <a:t>含义：不要卖“替代女佣”；要卖“每天都有干净地面”。</a:t>
            </a:r>
          </a:p>
        </p:txBody>
      </p:sp>
    </p:spTree>
    <p:extLst>
      <p:ext uri="{BB962C8B-B14F-4D97-AF65-F5344CB8AC3E}">
        <p14:creationId xmlns:p14="http://schemas.microsoft.com/office/powerpoint/2010/main" val="17872577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C99951-2C87-4BE0-BD3F-78CE3D05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000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85034"/>
                </a:solidFill>
                <a:latin typeface="Arial"/>
                <a:ea typeface="Arial"/>
                <a:cs typeface="Arial"/>
              </a:defRPr>
            </a:pPr>
            <a:r>
              <a:t>02  POSITIONING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F9C41F-3482-4CCE-B3D1-5B3FCBCF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"/>
            <a:ext cx="111252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102F28"/>
                </a:solidFill>
                <a:latin typeface="Georgia"/>
                <a:ea typeface="Georgia"/>
                <a:cs typeface="Georgia"/>
              </a:defRPr>
            </a:pPr>
            <a:r>
              <a:t>最强答案不是二选一，而是两种“机器人＋人”组合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495300" y="1362075"/>
            <a:ext cx="111252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4B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8B350B-53E9-433B-9BF7-7C252C46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0191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65716B"/>
                </a:solidFill>
                <a:latin typeface="Arial"/>
                <a:ea typeface="Arial"/>
                <a:cs typeface="Arial"/>
              </a:defRPr>
            </a:pPr>
            <a:r>
              <a:t>Sources: MOM HSS; Reddit r/askSingapore (qualitative only); author synthesis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D94AA6-EAFE-4035-92A9-233E0A31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48425"/>
            <a:ext cx="552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C85034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CFAAAC-1EA2-46A5-867E-C3F05333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457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 i="0">
                <a:solidFill>
                  <a:srgbClr val="C85034"/>
                </a:solidFill>
                <a:latin typeface="Georgia"/>
                <a:ea typeface="Georgia"/>
                <a:cs typeface="Georgia"/>
              </a:defRPr>
            </a:pPr>
            <a: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49FE2C-ACDB-4021-9FE8-7A4B3233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81175"/>
            <a:ext cx="4476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02F28"/>
                </a:solidFill>
                <a:latin typeface="Georgia"/>
                <a:ea typeface="Georgia"/>
                <a:cs typeface="Georgia"/>
              </a:defRPr>
            </a:pPr>
            <a:r>
              <a:t>有住家女佣的家庭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495300" y="2305050"/>
            <a:ext cx="50863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4B8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6E5851-3F79-48D6-B4BC-C4614DCF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09850"/>
            <a:ext cx="114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C6655"/>
                </a:solidFill>
                <a:latin typeface="Arial"/>
                <a:ea typeface="Arial"/>
                <a:cs typeface="Arial"/>
              </a:defRPr>
            </a:pPr>
            <a:r>
              <a:t>机器人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CCEEA3-FB4E-4427-B6AE-EA9F1BE4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71750"/>
            <a:ext cx="3429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F28"/>
                </a:solidFill>
                <a:latin typeface="Arial"/>
                <a:ea typeface="Arial"/>
                <a:cs typeface="Arial"/>
              </a:defRPr>
            </a:pPr>
            <a:r>
              <a:t>承包每日重复扫拖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A35E26-BBBF-424F-91AC-89F5135D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05150"/>
            <a:ext cx="114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85034"/>
                </a:solidFill>
                <a:latin typeface="Arial"/>
                <a:ea typeface="Arial"/>
                <a:cs typeface="Arial"/>
              </a:defRPr>
            </a:pPr>
            <a:r>
              <a:t>女佣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E0C05C-B251-4F48-977F-687B5E20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67050"/>
            <a:ext cx="3619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F28"/>
                </a:solidFill>
                <a:latin typeface="Arial"/>
                <a:ea typeface="Arial"/>
                <a:cs typeface="Arial"/>
              </a:defRPr>
            </a:pPr>
            <a:r>
              <a:t>转向照护、做饭、整理与深清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CD5441-A7C9-475A-B1DC-60642276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76650"/>
            <a:ext cx="114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5716B"/>
                </a:solidFill>
                <a:latin typeface="Arial"/>
                <a:ea typeface="Arial"/>
                <a:cs typeface="Arial"/>
              </a:defRPr>
            </a:pPr>
            <a:r>
              <a:t>销售语言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2231C7-F77D-4695-8B7B-EA3E7CB3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19500"/>
            <a:ext cx="37147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5716B"/>
                </a:solidFill>
                <a:latin typeface="Arial"/>
                <a:ea typeface="Arial"/>
                <a:cs typeface="Arial"/>
              </a:defRPr>
            </a:pPr>
            <a:r>
              <a:t>少做重复事，把时间留给更重要的人和任务。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9D392F-3357-4D90-AFC6-BB80FC23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52950"/>
            <a:ext cx="50863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3D7"/>
          </a:solidFill>
          <a:ln xmlns:a="http://schemas.openxmlformats.org/drawingml/2006/main" w="0">
            <a:solidFill>
              <a:srgbClr val="E8E3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858EB9-3A10-4E09-88B6-7CF539D8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91075"/>
            <a:ext cx="4667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88" b="1" i="0">
                <a:solidFill>
                  <a:srgbClr val="1C6655"/>
                </a:solidFill>
                <a:latin typeface="Arial"/>
                <a:ea typeface="Arial"/>
                <a:cs typeface="Arial"/>
              </a:defRPr>
            </a:pPr>
            <a:r>
              <a:t>ROBOT × DAILY  +  HELPER × HIGH-VALUE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31DCFA-BF18-4BA7-AE18-5ECEAFBB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52600"/>
            <a:ext cx="457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 i="0">
                <a:solidFill>
                  <a:srgbClr val="C85034"/>
                </a:solidFill>
                <a:latin typeface="Georgia"/>
                <a:ea typeface="Georgia"/>
                <a:cs typeface="Georgia"/>
              </a:defRPr>
            </a:pPr>
            <a:r>
              <a:t>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329101-52BF-4F50-B057-CF723311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781175"/>
            <a:ext cx="4476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02F28"/>
                </a:solidFill>
                <a:latin typeface="Georgia"/>
                <a:ea typeface="Georgia"/>
                <a:cs typeface="Georgia"/>
              </a:defRPr>
            </a:pPr>
            <a:r>
              <a:t>没有住家女佣的家庭</a:t>
            </a:r>
          </a:p>
        </p:txBody>
      </p:sp>
      <p:cxnSp>
        <p:nvCxnSpPr>
          <p:cNvPr id="48" name=""/>
          <p:cNvCxnSpPr/>
          <p:nvPr/>
        </p:nvCxnSpPr>
        <p:spPr>
          <a:xfrm xmlns:a="http://schemas.openxmlformats.org/drawingml/2006/main">
            <a:off x="6305550" y="2305050"/>
            <a:ext cx="53149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4B8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B1BDFD-E726-453E-B971-E3482214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09850"/>
            <a:ext cx="114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C6655"/>
                </a:solidFill>
                <a:latin typeface="Arial"/>
                <a:ea typeface="Arial"/>
                <a:cs typeface="Arial"/>
              </a:defRPr>
            </a:pPr>
            <a:r>
              <a:t>机器人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BFF55F-6D56-444C-91FB-B3AF3998C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71750"/>
            <a:ext cx="3429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F28"/>
                </a:solidFill>
                <a:latin typeface="Arial"/>
                <a:ea typeface="Arial"/>
                <a:cs typeface="Arial"/>
              </a:defRPr>
            </a:pPr>
            <a:r>
              <a:t>每天维持地面基线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E6B84B-7EDC-47DE-9B2A-9003B0DA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05150"/>
            <a:ext cx="114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85034"/>
                </a:solidFill>
                <a:latin typeface="Arial"/>
                <a:ea typeface="Arial"/>
                <a:cs typeface="Arial"/>
              </a:defRPr>
            </a:pPr>
            <a:r>
              <a:t>钟点工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805CF3-1965-434F-A9E1-334526C8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67050"/>
            <a:ext cx="3714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F28"/>
                </a:solidFill>
                <a:latin typeface="Arial"/>
                <a:ea typeface="Arial"/>
                <a:cs typeface="Arial"/>
              </a:defRPr>
            </a:pPr>
            <a:r>
              <a:t>每周 / 双周 / 每月深度清洁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F9032C-AE07-4077-8479-0DC24BF4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76650"/>
            <a:ext cx="114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5716B"/>
                </a:solidFill>
                <a:latin typeface="Arial"/>
                <a:ea typeface="Arial"/>
                <a:cs typeface="Arial"/>
              </a:defRPr>
            </a:pPr>
            <a:r>
              <a:t>销售语言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D9C147-0848-42E3-900F-16D71204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19500"/>
            <a:ext cx="37147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5716B"/>
                </a:solidFill>
                <a:latin typeface="Arial"/>
                <a:ea typeface="Arial"/>
                <a:cs typeface="Arial"/>
              </a:defRPr>
            </a:pPr>
            <a:r>
              <a:t>不增加同住人员，也能减少两次人工清洁之间的灰尘与毛发。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659C52-80AE-4891-A060-3074167B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52950"/>
            <a:ext cx="5314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3D7"/>
          </a:solidFill>
          <a:ln xmlns:a="http://schemas.openxmlformats.org/drawingml/2006/main" w="0">
            <a:solidFill>
              <a:srgbClr val="E8E3D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13C356-D84A-44F5-8E23-96DF98AB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91075"/>
            <a:ext cx="4857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88" b="1" i="0">
                <a:solidFill>
                  <a:srgbClr val="1C6655"/>
                </a:solidFill>
                <a:latin typeface="Arial"/>
                <a:ea typeface="Arial"/>
                <a:cs typeface="Arial"/>
              </a:defRPr>
            </a:pPr>
            <a:r>
              <a:t>ROBOT × DAILY  +  HUMAN × PERIODIC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F72F07-6787-4ECE-B200-11CAE545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38800"/>
            <a:ext cx="11125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28"/>
          </a:solidFill>
          <a:ln xmlns:a="http://schemas.openxmlformats.org/drawingml/2006/main" w="0">
            <a:solidFill>
              <a:srgbClr val="102F2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75BEA5-C33D-4F34-A6DF-00D5840F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62625"/>
            <a:ext cx="1066800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t>Roborock 的品类定义：不是“自动家政”，而是“每日地面维护系统”。</a:t>
            </a:r>
          </a:p>
        </p:txBody>
      </p:sp>
    </p:spTree>
    <p:extLst>
      <p:ext uri="{BB962C8B-B14F-4D97-AF65-F5344CB8AC3E}">
        <p14:creationId xmlns:p14="http://schemas.microsoft.com/office/powerpoint/2010/main" val="1132988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F3D84B-42E1-4C09-A7DB-0158EE5A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000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85034"/>
                </a:solidFill>
                <a:latin typeface="Arial"/>
                <a:ea typeface="Arial"/>
                <a:cs typeface="Arial"/>
              </a:defRPr>
            </a:pPr>
            <a:r>
              <a:t>03  PRODUCT–VALUE LADDER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A4A369-D2D8-4FD3-A0A7-3D28F40D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"/>
            <a:ext cx="111252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102F28"/>
                </a:solidFill>
                <a:latin typeface="Georgia"/>
                <a:ea typeface="Georgia"/>
                <a:cs typeface="Georgia"/>
              </a:defRPr>
            </a:pPr>
            <a:r>
              <a:t>不要堆参数：用 Q7、Qrevo、Saros 回答三种购买任务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495300" y="1362075"/>
            <a:ext cx="111252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4B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B24D75-01EF-4E99-B43E-6D6EDCA4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0191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65716B"/>
                </a:solidFill>
                <a:latin typeface="Arial"/>
                <a:ea typeface="Arial"/>
                <a:cs typeface="Arial"/>
              </a:defRPr>
            </a:pPr>
            <a:r>
              <a:t>Source: Roborock Singapore official store, price snapshot 25 Jul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C28D19-4CAD-4E90-8548-1D95D84F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48425"/>
            <a:ext cx="552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C85034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CA7D36-B846-4700-8E66-EF755647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00200"/>
            <a:ext cx="13811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C85034"/>
                </a:solidFill>
                <a:latin typeface="Arial"/>
                <a:ea typeface="Arial"/>
                <a:cs typeface="Arial"/>
              </a:defRPr>
            </a:pPr>
            <a:r>
              <a:t>价格 / 配置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7E0A99-9609-4FB9-A654-8F2048B1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60020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C85034"/>
                </a:solidFill>
                <a:latin typeface="Arial"/>
                <a:ea typeface="Arial"/>
                <a:cs typeface="Arial"/>
              </a:defRPr>
            </a:pPr>
            <a:r>
              <a:t>产品角色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F63E11-B77A-436E-BE39-A17ED0E5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0020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C85034"/>
                </a:solidFill>
                <a:latin typeface="Arial"/>
                <a:ea typeface="Arial"/>
                <a:cs typeface="Arial"/>
              </a:defRPr>
            </a:pPr>
            <a:r>
              <a:t>可见功能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384272-40F8-4579-8449-EECC16A8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00200"/>
            <a:ext cx="238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C85034"/>
                </a:solidFill>
                <a:latin typeface="Arial"/>
                <a:ea typeface="Arial"/>
                <a:cs typeface="Arial"/>
              </a:defRPr>
            </a:pPr>
            <a:r>
              <a:t>消费者价值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6850CF-77F1-4B2C-ACED-259CC201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11125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3D7"/>
          </a:solidFill>
          <a:ln xmlns:a="http://schemas.openxmlformats.org/drawingml/2006/main" w="0">
            <a:solidFill>
              <a:srgbClr val="E8E3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63E7A6-8810-4648-8CB5-B93BD011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1809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02F28"/>
                </a:solidFill>
                <a:latin typeface="Georgia"/>
                <a:ea typeface="Georgia"/>
                <a:cs typeface="Georgia"/>
              </a:defRPr>
            </a:pPr>
            <a:r>
              <a:t>S$220–430*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DD5FB6-FF70-4CCF-A243-2802B13A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90750"/>
            <a:ext cx="1809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C6655"/>
                </a:solidFill>
                <a:latin typeface="Georgia"/>
                <a:ea typeface="Georgia"/>
                <a:cs typeface="Georgia"/>
              </a:defRPr>
            </a:pPr>
            <a:r>
              <a:t>Q7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B07F78-C596-4B95-81F6-1D46AB67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670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5716B"/>
                </a:solidFill>
                <a:latin typeface="Arial"/>
                <a:ea typeface="Arial"/>
                <a:cs typeface="Arial"/>
              </a:defRPr>
            </a:pPr>
            <a:r>
              <a:t>第一次买机器人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A352DA-32A6-426F-96A4-01ABA80F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86000"/>
            <a:ext cx="2571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F28"/>
                </a:solidFill>
                <a:latin typeface="Arial"/>
                <a:ea typeface="Arial"/>
                <a:cs typeface="Arial"/>
              </a:defRPr>
            </a:pPr>
            <a:r>
              <a:t>基础导航、扫拖与日程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E79659-83AB-4867-B4DB-192EE362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71725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C85034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7C256A-92C5-46E4-9066-AFFAB62E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47900"/>
            <a:ext cx="27432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2F28"/>
                </a:solidFill>
                <a:latin typeface="Georgia"/>
                <a:ea typeface="Georgia"/>
                <a:cs typeface="Georgia"/>
              </a:defRPr>
            </a:pPr>
            <a:r>
              <a:t>让入门简单
适合小户型 / 次要空间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ACDA33-09A4-4ABC-B626-4301F2A0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76600"/>
            <a:ext cx="11125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DF"/>
          </a:solidFill>
          <a:ln xmlns:a="http://schemas.openxmlformats.org/drawingml/2006/main" w="0">
            <a:solidFill>
              <a:srgbClr val="DDE7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B13087-B1DC-4E55-9303-D00D40BE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1809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02F28"/>
                </a:solidFill>
                <a:latin typeface="Georgia"/>
                <a:ea typeface="Georgia"/>
                <a:cs typeface="Georgia"/>
              </a:defRPr>
            </a:pPr>
            <a:r>
              <a:t>S$600–1,150*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E9D691-FDEC-4AD9-81D3-AD197E97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67100"/>
            <a:ext cx="1809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C6655"/>
                </a:solidFill>
                <a:latin typeface="Georgia"/>
                <a:ea typeface="Georgia"/>
                <a:cs typeface="Georgia"/>
              </a:defRPr>
            </a:pPr>
            <a:r>
              <a:t>Qrevo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99DC86-35E8-447E-BCC5-F662108CD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4335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5716B"/>
                </a:solidFill>
                <a:latin typeface="Arial"/>
                <a:ea typeface="Arial"/>
                <a:cs typeface="Arial"/>
              </a:defRPr>
            </a:pPr>
            <a:r>
              <a:t>主流家庭的量级英雄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69892B-BF30-4C44-B09B-488D5E05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62350"/>
            <a:ext cx="2571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F28"/>
                </a:solidFill>
                <a:latin typeface="Arial"/>
                <a:ea typeface="Arial"/>
                <a:cs typeface="Arial"/>
              </a:defRPr>
            </a:pPr>
            <a:r>
              <a:t>多功能基站
更完整的自动维护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ABE8BD-4D47-4FA1-9CD8-5104A577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48075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C85034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704FDA-E5DD-4B0A-A116-8199AD65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24250"/>
            <a:ext cx="27432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2F28"/>
                </a:solidFill>
                <a:latin typeface="Georgia"/>
                <a:ea typeface="Georgia"/>
                <a:cs typeface="Georgia"/>
              </a:defRPr>
            </a:pPr>
            <a:r>
              <a:t>少操心的每日清洁
价格与自动化更平衡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58DFA2-CCE1-4965-9FD1-8CE4FEB1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67250"/>
            <a:ext cx="11125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28"/>
          </a:solidFill>
          <a:ln xmlns:a="http://schemas.openxmlformats.org/drawingml/2006/main" w="0">
            <a:solidFill>
              <a:srgbClr val="102F2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FBABE8-CDF0-408C-8658-ADDD50BB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29200"/>
            <a:ext cx="1809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0767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t>S$1,550–1,900*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8542AC-4F1B-4B0F-96F7-52EFB21D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57750"/>
            <a:ext cx="1809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t>Saros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37075B-535F-4676-9884-D67D27AE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340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3EFE5"/>
                </a:solidFill>
                <a:latin typeface="Arial"/>
                <a:ea typeface="Arial"/>
                <a:cs typeface="Arial"/>
              </a:defRPr>
            </a:pPr>
            <a:r>
              <a:t>高端能力与品牌锚点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19AC82-7F89-4CF1-9297-8EE21A18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2571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3EFE5"/>
                </a:solidFill>
                <a:latin typeface="Arial"/>
                <a:ea typeface="Arial"/>
                <a:cs typeface="Arial"/>
              </a:defRPr>
            </a:pPr>
            <a:r>
              <a:t>7.98 cm · 36,000 Pa
越障与障碍处理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8F138D-86C8-4ADD-91DA-C2AEC389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038725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C85034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0D0CFD-C4E9-4552-89DB-E713569A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914900"/>
            <a:ext cx="27432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t>减少救援时刻
适合低家具 / 混合地面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2331E5-26BF-402D-BF88-9F5B3072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53150"/>
            <a:ext cx="111252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 i="0">
                <a:solidFill>
                  <a:srgbClr val="65716B"/>
                </a:solidFill>
                <a:latin typeface="Arial"/>
                <a:ea typeface="Arial"/>
                <a:cs typeface="Arial"/>
              </a:defRPr>
            </a:pPr>
            <a:r>
              <a:t>*促销快照，随活动与配置变化。不要把旗舰卖给所有人：Qrevo 应是主销，Saros 建立高端势能，Q7 扩大入口。</a:t>
            </a:r>
          </a:p>
        </p:txBody>
      </p:sp>
    </p:spTree>
    <p:extLst>
      <p:ext uri="{BB962C8B-B14F-4D97-AF65-F5344CB8AC3E}">
        <p14:creationId xmlns:p14="http://schemas.microsoft.com/office/powerpoint/2010/main" val="7210092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EABE83-2B8D-464F-BE5C-FBD2E092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000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85034"/>
                </a:solidFill>
                <a:latin typeface="Arial"/>
                <a:ea typeface="Arial"/>
                <a:cs typeface="Arial"/>
              </a:defRPr>
            </a:pPr>
            <a:r>
              <a:t>04  COMPETITION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590F9E-0D34-4485-9355-031BD5AD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"/>
            <a:ext cx="111252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102F28"/>
                </a:solidFill>
                <a:latin typeface="Georgia"/>
                <a:ea typeface="Georgia"/>
                <a:cs typeface="Georgia"/>
              </a:defRPr>
            </a:pPr>
            <a:r>
              <a:t>参数正在趋同；Roborock 应把“可靠的每日清洁”变成心智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495300" y="1362075"/>
            <a:ext cx="111252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4B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890ADF-6144-4375-97FC-62359644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0191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65716B"/>
                </a:solidFill>
                <a:latin typeface="Arial"/>
                <a:ea typeface="Arial"/>
                <a:cs typeface="Arial"/>
              </a:defRPr>
            </a:pPr>
            <a:r>
              <a:t>Sources: official Singapore brand/store pages, accessed 25 Jul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3272D2-411B-4F63-A63F-13FFADF1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48425"/>
            <a:ext cx="552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C85034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BE4013-888A-4CAE-BDE2-A6857566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11125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5716B"/>
                </a:solidFill>
                <a:latin typeface="Arial"/>
                <a:ea typeface="Arial"/>
                <a:cs typeface="Arial"/>
              </a:defRPr>
            </a:pPr>
            <a:r>
              <a:t>旗舰价与卖点均为当前官网/官方店快照；不同品牌口径不可直接横比。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495300" y="1885950"/>
          <a:ext xmlns:a="http://schemas.openxmlformats.org/drawingml/2006/main" cx="11125200" cy="36385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809750"/>
                <a:gridCol w="1714500"/>
                <a:gridCol w="2286000"/>
                <a:gridCol w="2667000"/>
                <a:gridCol w="264795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3EFE5"/>
                          </a:solidFill>
                        </a:rPr>
                        <a:t>品牌 / 旗舰</a:t>
                      </a:r>
                    </a:p>
                  </a:txBody>
                  <a:tcPr marL="91440" marR="91440" marT="45720" marB="45720">
                    <a:solidFill>
                      <a:srgbClr val="102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3EFE5"/>
                          </a:solidFill>
                        </a:rPr>
                        <a:t>SG 价格快照</a:t>
                      </a:r>
                    </a:p>
                  </a:txBody>
                  <a:tcPr marL="91440" marR="91440" marT="45720" marB="45720">
                    <a:solidFill>
                      <a:srgbClr val="102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3EFE5"/>
                          </a:solidFill>
                        </a:rPr>
                        <a:t>消费者心智</a:t>
                      </a:r>
                    </a:p>
                  </a:txBody>
                  <a:tcPr marL="91440" marR="91440" marT="45720" marB="45720">
                    <a:solidFill>
                      <a:srgbClr val="102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3EFE5"/>
                          </a:solidFill>
                        </a:rPr>
                        <a:t>最强卖点</a:t>
                      </a:r>
                    </a:p>
                  </a:txBody>
                  <a:tcPr marL="91440" marR="91440" marT="45720" marB="45720">
                    <a:solidFill>
                      <a:srgbClr val="102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3EFE5"/>
                          </a:solidFill>
                        </a:rPr>
                        <a:t>Roborock 的应对</a:t>
                      </a:r>
                    </a:p>
                  </a:txBody>
                  <a:tcPr marL="91440" marR="91440" marT="45720" marB="45720">
                    <a:solidFill>
                      <a:srgbClr val="102F28"/>
                    </a:solidFill>
                  </a:tcPr>
                </a:tc>
              </a:tr>
              <a:tr h="795338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C6655"/>
                          </a:solidFill>
                        </a:rPr>
                        <a:t>Roborock</a:t>
                      </a:r>
                    </a:p>
                    <a:p>
                      <a:r>
                        <a:rPr sz="1275" b="1">
                          <a:solidFill>
                            <a:srgbClr val="1C6655"/>
                          </a:solidFill>
                        </a:rPr>
                        <a:t>Saros 20</a:t>
                      </a:r>
                    </a:p>
                  </a:txBody>
                  <a:tcPr marL="91440" marR="91440" marT="45720" marB="45720">
                    <a:solidFill>
                      <a:srgbClr val="DDE7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F28"/>
                          </a:solidFill>
                        </a:rPr>
                        <a:t>S$1.55K–1.90K</a:t>
                      </a:r>
                    </a:p>
                  </a:txBody>
                  <a:tcPr marL="91440" marR="91440" marT="45720" marB="45720">
                    <a:solidFill>
                      <a:srgbClr val="DDE7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F28"/>
                          </a:solidFill>
                        </a:rPr>
                        <a:t>系统体验 + 宽价格梯度</a:t>
                      </a:r>
                    </a:p>
                  </a:txBody>
                  <a:tcPr marL="91440" marR="91440" marT="45720" marB="45720">
                    <a:solidFill>
                      <a:srgbClr val="DDE7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F28"/>
                          </a:solidFill>
                        </a:rPr>
                        <a:t>导航、低机身、产品梯度、本地服务</a:t>
                      </a:r>
                    </a:p>
                  </a:txBody>
                  <a:tcPr marL="91440" marR="91440" marT="45720" marB="45720">
                    <a:solidFill>
                      <a:srgbClr val="DDE7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F28"/>
                          </a:solidFill>
                        </a:rPr>
                        <a:t>占领“可靠的每日清洁”</a:t>
                      </a:r>
                    </a:p>
                  </a:txBody>
                  <a:tcPr marL="91440" marR="91440" marT="45720" marB="45720">
                    <a:solidFill>
                      <a:srgbClr val="DDE7DF"/>
                    </a:solidFill>
                  </a:tcPr>
                </a:tc>
              </a:tr>
              <a:tr h="795338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F28"/>
                          </a:solidFill>
                        </a:rPr>
                        <a:t>Dreame</a:t>
                      </a:r>
                    </a:p>
                    <a:p>
                      <a:r>
                        <a:rPr sz="1275" b="1">
                          <a:solidFill>
                            <a:srgbClr val="102F28"/>
                          </a:solidFill>
                        </a:rPr>
                        <a:t>X60 Ultra</a:t>
                      </a:r>
                    </a:p>
                  </a:txBody>
                  <a:tcPr marL="91440" marR="91440" marT="45720" marB="45720">
                    <a:solidFill>
                      <a:srgbClr val="E8E3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F28"/>
                          </a:solidFill>
                        </a:rPr>
                        <a:t>~S$1.70K</a:t>
                      </a:r>
                    </a:p>
                  </a:txBody>
                  <a:tcPr marL="91440" marR="91440" marT="45720" marB="45720">
                    <a:solidFill>
                      <a:srgbClr val="E8E3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F28"/>
                          </a:solidFill>
                        </a:rPr>
                        <a:t>旗舰创新 + 促销</a:t>
                      </a:r>
                    </a:p>
                  </a:txBody>
                  <a:tcPr marL="91440" marR="91440" marT="45720" marB="45720">
                    <a:solidFill>
                      <a:srgbClr val="E8E3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F28"/>
                          </a:solidFill>
                        </a:rPr>
                        <a:t>36,000 Pa、低机身、越障与 100°C 基站</a:t>
                      </a:r>
                    </a:p>
                  </a:txBody>
                  <a:tcPr marL="91440" marR="91440" marT="45720" marB="45720">
                    <a:solidFill>
                      <a:srgbClr val="E8E3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F28"/>
                          </a:solidFill>
                        </a:rPr>
                        <a:t>用真实房型证明，化解参数战</a:t>
                      </a:r>
                    </a:p>
                  </a:txBody>
                  <a:tcPr marL="91440" marR="91440" marT="45720" marB="45720">
                    <a:solidFill>
                      <a:srgbClr val="E8E3D7"/>
                    </a:solidFill>
                  </a:tcPr>
                </a:tc>
              </a:tr>
              <a:tr h="795338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F28"/>
                          </a:solidFill>
                        </a:rPr>
                        <a:t>Ecovacs</a:t>
                      </a:r>
                    </a:p>
                    <a:p>
                      <a:r>
                        <a:rPr sz="1275" b="1">
                          <a:solidFill>
                            <a:srgbClr val="102F28"/>
                          </a:solidFill>
                        </a:rPr>
                        <a:t>X11 OmniCyclone</a:t>
                      </a:r>
                    </a:p>
                  </a:txBody>
                  <a:tcPr marL="91440" marR="91440" marT="45720" marB="45720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F28"/>
                          </a:solidFill>
                        </a:rPr>
                        <a:t>~S$1.40K</a:t>
                      </a:r>
                    </a:p>
                  </a:txBody>
                  <a:tcPr marL="91440" marR="91440" marT="45720" marB="45720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F28"/>
                          </a:solidFill>
                        </a:rPr>
                        <a:t>功能丰富 + 性价比</a:t>
                      </a:r>
                    </a:p>
                  </a:txBody>
                  <a:tcPr marL="91440" marR="91440" marT="45720" marB="45720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F28"/>
                          </a:solidFill>
                        </a:rPr>
                        <a:t>滚筒拖布、无尘袋、AI 污渍与折扣</a:t>
                      </a:r>
                    </a:p>
                  </a:txBody>
                  <a:tcPr marL="91440" marR="91440" marT="45720" marB="45720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F28"/>
                          </a:solidFill>
                        </a:rPr>
                        <a:t>强调全周期便利，不打裸价战</a:t>
                      </a:r>
                    </a:p>
                  </a:txBody>
                  <a:tcPr marL="91440" marR="91440" marT="45720" marB="45720">
                    <a:solidFill>
                      <a:srgbClr val="FAF7F0"/>
                    </a:solidFill>
                  </a:tcPr>
                </a:tc>
              </a:tr>
              <a:tr h="795338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F28"/>
                          </a:solidFill>
                        </a:rPr>
                        <a:t>Narwal</a:t>
                      </a:r>
                    </a:p>
                    <a:p>
                      <a:r>
                        <a:rPr sz="1275" b="1">
                          <a:solidFill>
                            <a:srgbClr val="102F28"/>
                          </a:solidFill>
                        </a:rPr>
                        <a:t>Flow 2</a:t>
                      </a:r>
                    </a:p>
                  </a:txBody>
                  <a:tcPr marL="91440" marR="91440" marT="45720" marB="45720">
                    <a:solidFill>
                      <a:srgbClr val="E8E3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F28"/>
                          </a:solidFill>
                        </a:rPr>
                        <a:t>~S$2.00K</a:t>
                      </a:r>
                    </a:p>
                  </a:txBody>
                  <a:tcPr marL="91440" marR="91440" marT="45720" marB="45720">
                    <a:solidFill>
                      <a:srgbClr val="E8E3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F28"/>
                          </a:solidFill>
                        </a:rPr>
                        <a:t>高端拖地 + AI</a:t>
                      </a:r>
                    </a:p>
                  </a:txBody>
                  <a:tcPr marL="91440" marR="91440" marT="45720" marB="45720">
                    <a:solidFill>
                      <a:srgbClr val="E8E3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F28"/>
                          </a:solidFill>
                        </a:rPr>
                        <a:t>拖地、卫生叙事、AI 视觉与设计</a:t>
                      </a:r>
                    </a:p>
                  </a:txBody>
                  <a:tcPr marL="91440" marR="91440" marT="45720" marB="45720">
                    <a:solidFill>
                      <a:srgbClr val="E8E3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F28"/>
                          </a:solidFill>
                        </a:rPr>
                        <a:t>放大导航稳定性与售后可见度</a:t>
                      </a:r>
                    </a:p>
                  </a:txBody>
                  <a:tcPr marL="91440" marR="91440" marT="45720" marB="45720">
                    <a:solidFill>
                      <a:srgbClr val="E8E3D7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3F87EF-C4E6-4FCF-8171-50A67DCA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53100"/>
            <a:ext cx="11125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655"/>
          </a:solidFill>
          <a:ln xmlns:a="http://schemas.openxmlformats.org/drawingml/2006/main" w="0">
            <a:solidFill>
              <a:srgbClr val="1C66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6E6673-9531-4D87-9DF9-7F4FAB66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95975"/>
            <a:ext cx="666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3EFE5"/>
                </a:solidFill>
                <a:latin typeface="Arial"/>
                <a:ea typeface="Arial"/>
                <a:cs typeface="Arial"/>
              </a:defRPr>
            </a:pPr>
            <a:r>
              <a:t>赢法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FF1D9F-90A9-4948-8658-ABF2F5C7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48350"/>
            <a:ext cx="7905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t>房型问诊 + 真实家庭演示 + 诚实维护说明 + 本地维修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4C49BD-E018-4CF6-B59C-B1DFE905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895975"/>
            <a:ext cx="171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F3EFE5"/>
                </a:solidFill>
                <a:latin typeface="Arial"/>
                <a:ea typeface="Arial"/>
                <a:cs typeface="Arial"/>
              </a:defRPr>
            </a:pPr>
            <a:r>
              <a:t>规格只是入场券</a:t>
            </a:r>
          </a:p>
        </p:txBody>
      </p:sp>
    </p:spTree>
    <p:extLst>
      <p:ext uri="{BB962C8B-B14F-4D97-AF65-F5344CB8AC3E}">
        <p14:creationId xmlns:p14="http://schemas.microsoft.com/office/powerpoint/2010/main" val="16290259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6A0CDD-CB60-4F9E-AE71-DACAA931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000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85034"/>
                </a:solidFill>
                <a:latin typeface="Arial"/>
                <a:ea typeface="Arial"/>
                <a:cs typeface="Arial"/>
              </a:defRPr>
            </a:pPr>
            <a:r>
              <a:t>05  CHANNELS, SERVICE &amp; FAQ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E826BF-69BE-4479-8CAA-3B7BB04B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"/>
            <a:ext cx="111252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102F28"/>
                </a:solidFill>
                <a:latin typeface="Georgia"/>
                <a:ea typeface="Georgia"/>
                <a:cs typeface="Georgia"/>
              </a:defRPr>
            </a:pPr>
            <a:r>
              <a:t>新加坡高端定价的前提：在购买前后都让服务可见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495300" y="1362075"/>
            <a:ext cx="111252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4B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17AFFF-50D3-40D4-A2E7-15A5E53E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0191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65716B"/>
                </a:solidFill>
                <a:latin typeface="Arial"/>
                <a:ea typeface="Arial"/>
                <a:cs typeface="Arial"/>
              </a:defRPr>
            </a:pPr>
            <a:r>
              <a:t>Sources: Roborock SG official store/contact; author GTM recommendation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C7D8C5-6A48-4026-9953-F5C82841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48425"/>
            <a:ext cx="552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C85034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1790700" y="2343150"/>
            <a:ext cx="196215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8C4B8"/>
            </a:solidFill>
            <a:prstDash val="solid"/>
          </a:ln>
        </p:spPr>
      </p:cxnSp>
      <p:cxnSp>
        <p:nvCxnSpPr>
          <p:cNvPr id="39" name=""/>
          <p:cNvCxnSpPr/>
          <p:nvPr/>
        </p:nvCxnSpPr>
        <p:spPr>
          <a:xfrm xmlns:a="http://schemas.openxmlformats.org/drawingml/2006/main">
            <a:off x="4476750" y="2343150"/>
            <a:ext cx="196215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8C4B8"/>
            </a:solidFill>
            <a:prstDash val="solid"/>
          </a:ln>
        </p:spPr>
      </p:cxnSp>
      <p:cxnSp>
        <p:nvCxnSpPr>
          <p:cNvPr id="40" name=""/>
          <p:cNvCxnSpPr/>
          <p:nvPr/>
        </p:nvCxnSpPr>
        <p:spPr>
          <a:xfrm xmlns:a="http://schemas.openxmlformats.org/drawingml/2006/main">
            <a:off x="7162800" y="2343150"/>
            <a:ext cx="196215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8C4B8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F81358-51BF-4355-B539-3792FFC8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C85034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A177B9-D2F0-4AD0-AFC8-D2671C4F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57400"/>
            <a:ext cx="1295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2F28"/>
                </a:solidFill>
                <a:latin typeface="Georgia"/>
                <a:ea typeface="Georgia"/>
                <a:cs typeface="Georgia"/>
              </a:defRPr>
            </a:pPr>
            <a:r>
              <a:t>发现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AB50F3-C700-48F8-B651-1A1D0C72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90800"/>
            <a:ext cx="1524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5716B"/>
                </a:solidFill>
                <a:latin typeface="Arial"/>
                <a:ea typeface="Arial"/>
                <a:cs typeface="Arial"/>
              </a:defRPr>
            </a:pPr>
            <a:r>
              <a:t>DTC 内容
房型问诊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A1C9E9-322C-4A6A-97A0-64F6C011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7526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C85034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70215E-DE76-426A-BF5A-14DBF56D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057400"/>
            <a:ext cx="1295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2F28"/>
                </a:solidFill>
                <a:latin typeface="Georgia"/>
                <a:ea typeface="Georgia"/>
                <a:cs typeface="Georgia"/>
              </a:defRPr>
            </a:pPr>
            <a:r>
              <a:t>证明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65DA23-6521-49E8-8727-C135B379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590800"/>
            <a:ext cx="1676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5716B"/>
                </a:solidFill>
                <a:latin typeface="Arial"/>
                <a:ea typeface="Arial"/>
                <a:cs typeface="Arial"/>
              </a:defRPr>
            </a:pPr>
            <a:r>
              <a:t>展厅 / 家庭演示
低家具与越障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1C6290-4814-4912-A796-BB25F82B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7526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C85034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AE5DF8-5F78-48C1-8907-FCCEC1A0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057400"/>
            <a:ext cx="1295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2F28"/>
                </a:solidFill>
                <a:latin typeface="Georgia"/>
                <a:ea typeface="Georgia"/>
                <a:cs typeface="Georgia"/>
              </a:defRPr>
            </a:pPr>
            <a:r>
              <a:t>成交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8A2498-3B20-4679-BB12-13448386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590800"/>
            <a:ext cx="1676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5716B"/>
                </a:solidFill>
                <a:latin typeface="Arial"/>
                <a:ea typeface="Arial"/>
                <a:cs typeface="Arial"/>
              </a:defRPr>
            </a:pPr>
            <a:r>
              <a:t>官方店 / 平台
配置与套装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348EE4-23B5-46FD-931F-B9FBC727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526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C85034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D277BF-F2D6-496E-9F51-78192473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57400"/>
            <a:ext cx="1295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2F28"/>
                </a:solidFill>
                <a:latin typeface="Georgia"/>
                <a:ea typeface="Georgia"/>
                <a:cs typeface="Georgia"/>
              </a:defRPr>
            </a:pPr>
            <a:r>
              <a:t>留存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27B0D9-3380-4A48-BB1D-588A5117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90800"/>
            <a:ext cx="19812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5716B"/>
                </a:solidFill>
                <a:latin typeface="Arial"/>
                <a:ea typeface="Arial"/>
                <a:cs typeface="Arial"/>
              </a:defRPr>
            </a:pPr>
            <a:r>
              <a:t>保修 / 维修
耗材 / 以旧换新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DB2CE5-37E6-4F4E-B38F-C61AD5E7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90900"/>
            <a:ext cx="11125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28"/>
          </a:solidFill>
          <a:ln xmlns:a="http://schemas.openxmlformats.org/drawingml/2006/main" w="0">
            <a:solidFill>
              <a:srgbClr val="102F2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A174BD-7C83-49C6-843E-CDE71D27D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1066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3EFE5"/>
                </a:solidFill>
                <a:latin typeface="Arial"/>
                <a:ea typeface="Arial"/>
                <a:cs typeface="Arial"/>
              </a:defRPr>
            </a:pPr>
            <a:r>
              <a:t>本地信任锚点：35 Tampines Street 92 服务中心 · 两年本地保修 · 安装、维修、延保与耗材入口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158ADF-2B06-4F0B-BECE-FA400201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05300"/>
            <a:ext cx="161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C85034"/>
                </a:solidFill>
                <a:latin typeface="Arial"/>
                <a:ea typeface="Arial"/>
                <a:cs typeface="Arial"/>
              </a:defRPr>
            </a:pPr>
            <a:r>
              <a:t>购买异议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F74B38-2E6D-469A-AA19-70D32CEC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0"/>
            <a:ext cx="323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F28"/>
                </a:solidFill>
                <a:latin typeface="Georgia"/>
                <a:ea typeface="Georgia"/>
                <a:cs typeface="Georgia"/>
              </a:defRPr>
            </a:pPr>
            <a:r>
              <a:t>“有女佣了，为什么还要买？”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5F15DF-779D-427E-B86E-200EA704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24450"/>
            <a:ext cx="3238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5716B"/>
                </a:solidFill>
                <a:latin typeface="Arial"/>
                <a:ea typeface="Arial"/>
                <a:cs typeface="Arial"/>
              </a:defRPr>
            </a:pPr>
            <a:r>
              <a:t>少做每日重复扫拖；人继续负责照护与深清。</a:t>
            </a:r>
          </a:p>
        </p:txBody>
      </p:sp>
      <p:cxnSp>
        <p:nvCxnSpPr>
          <p:cNvPr id="58" name=""/>
          <p:cNvCxnSpPr/>
          <p:nvPr/>
        </p:nvCxnSpPr>
        <p:spPr>
          <a:xfrm xmlns:a="http://schemas.openxmlformats.org/drawingml/2006/main">
            <a:off x="4000500" y="4629150"/>
            <a:ext cx="286" cy="10668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4B8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FE28E0-6AA8-444C-83C6-CAB68710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6250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F28"/>
                </a:solidFill>
                <a:latin typeface="Georgia"/>
                <a:ea typeface="Georgia"/>
                <a:cs typeface="Georgia"/>
              </a:defRPr>
            </a:pPr>
            <a:r>
              <a:t>“这么贵，不如多请几次钟点工。”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49245F-BF78-4297-AE37-C9E0F9A6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124450"/>
            <a:ext cx="3333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5716B"/>
                </a:solidFill>
                <a:latin typeface="Arial"/>
                <a:ea typeface="Arial"/>
                <a:cs typeface="Arial"/>
              </a:defRPr>
            </a:pPr>
            <a:r>
              <a:t>比较每日频次与随时启动；用三档产品匹配预算。</a:t>
            </a:r>
          </a:p>
        </p:txBody>
      </p:sp>
      <p:cxnSp>
        <p:nvCxnSpPr>
          <p:cNvPr id="61" name=""/>
          <p:cNvCxnSpPr/>
          <p:nvPr/>
        </p:nvCxnSpPr>
        <p:spPr>
          <a:xfrm xmlns:a="http://schemas.openxmlformats.org/drawingml/2006/main">
            <a:off x="7810500" y="4629150"/>
            <a:ext cx="286" cy="10668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4B8"/>
            </a:solidFill>
            <a:prstDash val="soli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82F2AC-6083-45DC-8F72-60F32C36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76250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F28"/>
                </a:solidFill>
                <a:latin typeface="Georgia"/>
                <a:ea typeface="Georgia"/>
                <a:cs typeface="Georgia"/>
              </a:defRPr>
            </a:pPr>
            <a:r>
              <a:t>“最后还是要自己维护。”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CC0506-8437-48CD-95CF-35DD08A8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124450"/>
            <a:ext cx="3238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5716B"/>
                </a:solidFill>
                <a:latin typeface="Arial"/>
                <a:ea typeface="Arial"/>
                <a:cs typeface="Arial"/>
              </a:defRPr>
            </a:pPr>
            <a:r>
              <a:t>承认非零维护；明确污水、毛发、拖布和耗材节奏。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4D1D28-A601-4ECD-A337-D3414EE9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62650"/>
            <a:ext cx="11125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C6655"/>
                </a:solidFill>
                <a:latin typeface="Arial"/>
                <a:ea typeface="Arial"/>
                <a:cs typeface="Arial"/>
              </a:defRPr>
            </a:pPr>
            <a:r>
              <a:t>销售原则：承认边界，降低退货；用服务支撑溢价，而不是用“零维护”制造预期差。</a:t>
            </a:r>
          </a:p>
        </p:txBody>
      </p:sp>
    </p:spTree>
    <p:extLst>
      <p:ext uri="{BB962C8B-B14F-4D97-AF65-F5344CB8AC3E}">
        <p14:creationId xmlns:p14="http://schemas.microsoft.com/office/powerpoint/2010/main" val="10514918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DFF4C0-B7A1-4226-A7E0-46543344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000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85034"/>
                </a:solidFill>
                <a:latin typeface="Arial"/>
                <a:ea typeface="Arial"/>
                <a:cs typeface="Arial"/>
              </a:defRPr>
            </a:pPr>
            <a:r>
              <a:t>06  USE-CASE BLUEPRINT &amp; 90-DAY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9F7F07-7D3C-47C0-A555-8EADB606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"/>
            <a:ext cx="111252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102F28"/>
                </a:solidFill>
                <a:latin typeface="Georgia"/>
                <a:ea typeface="Georgia"/>
                <a:cs typeface="Georgia"/>
              </a:defRPr>
            </a:pPr>
            <a:r>
              <a:t>一个可信的家庭案例：机器人管频次，人管复杂度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495300" y="1362075"/>
            <a:ext cx="111252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4B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F1AD44-C8D2-494C-BF3F-C07A848F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0191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65716B"/>
                </a:solidFill>
                <a:latin typeface="Arial"/>
                <a:ea typeface="Arial"/>
                <a:cs typeface="Arial"/>
              </a:defRPr>
            </a:pPr>
            <a:r>
              <a:t>Source: Reddit SG household routines (qualitative only); proposed blueprint, not measured results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84F95E-BC37-44A5-8D43-6F51864A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48425"/>
            <a:ext cx="552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C85034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1771650" y="2971800"/>
            <a:ext cx="781050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8C4B8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7153D9-F85A-46FF-82AC-47881AC5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76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6655"/>
          </a:solidFill>
          <a:ln xmlns:a="http://schemas.openxmlformats.org/drawingml/2006/main" w="0">
            <a:solidFill>
              <a:srgbClr val="1C66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597491-6A13-49F1-9D74-D83809BD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876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5034"/>
          </a:solidFill>
          <a:ln xmlns:a="http://schemas.openxmlformats.org/drawingml/2006/main" w="0">
            <a:solidFill>
              <a:srgbClr val="C850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B01C82-14BC-4378-BED7-CE166DE3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76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F28"/>
          </a:solidFill>
          <a:ln xmlns:a="http://schemas.openxmlformats.org/drawingml/2006/main" w="0">
            <a:solidFill>
              <a:srgbClr val="102F2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1D310F-4628-4F77-9D10-AB2ED818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57350"/>
            <a:ext cx="1428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85034"/>
                </a:solidFill>
                <a:latin typeface="Arial"/>
                <a:ea typeface="Arial"/>
                <a:cs typeface="Arial"/>
              </a:defRPr>
            </a:pPr>
            <a:r>
              <a:t>目标家庭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D0A5CF-0945-443B-91D7-7855B9FF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495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02F28"/>
                </a:solidFill>
                <a:latin typeface="Georgia"/>
                <a:ea typeface="Georgia"/>
                <a:cs typeface="Georgia"/>
              </a:defRPr>
            </a:pPr>
            <a:r>
              <a:t>双职工夫妻 · 公寓 · 宠物 · 无住家女佣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14939D-1773-47AD-BE7E-58491838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76600"/>
            <a:ext cx="142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C6655"/>
                </a:solidFill>
                <a:latin typeface="Arial"/>
                <a:ea typeface="Arial"/>
                <a:cs typeface="Arial"/>
              </a:defRPr>
            </a:pPr>
            <a:r>
              <a:t>10:00 DAILY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900955-4E17-4E12-9D7C-AC272FBB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1428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02F28"/>
                </a:solidFill>
                <a:latin typeface="Georgia"/>
                <a:ea typeface="Georgia"/>
                <a:cs typeface="Georgia"/>
              </a:defRPr>
            </a:pPr>
            <a:r>
              <a:t>机器人扫拖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6761E4-503B-41A0-ADBB-694A6DEB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0025"/>
            <a:ext cx="1676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5716B"/>
                </a:solidFill>
                <a:latin typeface="Arial"/>
                <a:ea typeface="Arial"/>
                <a:cs typeface="Arial"/>
              </a:defRPr>
            </a:pPr>
            <a:r>
              <a:t>灰尘、毛发、日常地面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644A79-ACFC-4CE7-831F-3E0DF997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76600"/>
            <a:ext cx="142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C85034"/>
                </a:solidFill>
                <a:latin typeface="Arial"/>
                <a:ea typeface="Arial"/>
                <a:cs typeface="Arial"/>
              </a:defRPr>
            </a:pPr>
            <a:r>
              <a:t>WEEKLY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6D0356-0845-4AF6-B29A-F0DD2181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00450"/>
            <a:ext cx="1428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02F28"/>
                </a:solidFill>
                <a:latin typeface="Georgia"/>
                <a:ea typeface="Georgia"/>
                <a:cs typeface="Georgia"/>
              </a:defRPr>
            </a:pPr>
            <a:r>
              <a:t>人工清洁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0C58C5-C229-4B1A-A6D0-5918D156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010025"/>
            <a:ext cx="1676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5716B"/>
                </a:solidFill>
                <a:latin typeface="Arial"/>
                <a:ea typeface="Arial"/>
                <a:cs typeface="Arial"/>
              </a:defRPr>
            </a:pPr>
            <a:r>
              <a:t>厨房、浴室、边角、湿污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519882-58C5-4215-9CF9-CAAA2A1B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76600"/>
            <a:ext cx="142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02F28"/>
                </a:solidFill>
                <a:latin typeface="Arial"/>
                <a:ea typeface="Arial"/>
                <a:cs typeface="Arial"/>
              </a:defRPr>
            </a:pPr>
            <a:r>
              <a:t>MONTHLY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9E64CF-C79A-402B-88DD-B403E1B8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600450"/>
            <a:ext cx="1428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02F28"/>
                </a:solidFill>
                <a:latin typeface="Georgia"/>
                <a:ea typeface="Georgia"/>
                <a:cs typeface="Georgia"/>
              </a:defRPr>
            </a:pPr>
            <a:r>
              <a:t>深清 / HSS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543AAF-FFDF-4647-9FB3-3DAAA7D5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10025"/>
            <a:ext cx="1676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5716B"/>
                </a:solidFill>
                <a:latin typeface="Arial"/>
                <a:ea typeface="Arial"/>
                <a:cs typeface="Arial"/>
              </a:defRPr>
            </a:pPr>
            <a:r>
              <a:t>全屋深度任务与整理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1CB9C8-E0E8-4B8C-B96A-A38F7416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05350"/>
            <a:ext cx="11125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3D7"/>
          </a:solidFill>
          <a:ln xmlns:a="http://schemas.openxmlformats.org/drawingml/2006/main" w="0">
            <a:solidFill>
              <a:srgbClr val="E8E3D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0444C1-3601-4B05-A2B1-E856E5CF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1066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C6655"/>
                </a:solidFill>
                <a:latin typeface="Georgia"/>
                <a:ea typeface="Georgia"/>
                <a:cs typeface="Georgia"/>
              </a:defRPr>
            </a:pPr>
            <a:r>
              <a:t>价值不是“少请一个人”，而是两次人工清洁之间，地面每天回到干净基线。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72EB2F-094B-400F-97D3-B795CF4F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C85034"/>
                </a:solidFill>
                <a:latin typeface="Arial"/>
                <a:ea typeface="Arial"/>
                <a:cs typeface="Arial"/>
              </a:defRPr>
            </a:pPr>
            <a:r>
              <a:t>0–30 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E82292-46DA-416C-85C2-DDD47F7D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531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F28"/>
                </a:solidFill>
                <a:latin typeface="Arial"/>
                <a:ea typeface="Arial"/>
                <a:cs typeface="Arial"/>
              </a:defRPr>
            </a:pPr>
            <a:r>
              <a:t>问诊脚本 + 展厅演示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60BDE9-C2BC-4F2E-99FB-BF35415A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42925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C85034"/>
                </a:solidFill>
                <a:latin typeface="Arial"/>
                <a:ea typeface="Arial"/>
                <a:cs typeface="Arial"/>
              </a:defRPr>
            </a:pPr>
            <a:r>
              <a:t>31–60 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674536-026C-44F4-8FBC-714A0F58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753100"/>
            <a:ext cx="3143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F28"/>
                </a:solidFill>
                <a:latin typeface="Arial"/>
                <a:ea typeface="Arial"/>
                <a:cs typeface="Arial"/>
              </a:defRPr>
            </a:pPr>
            <a:r>
              <a:t>真实家庭试用 + 异议内容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9338CB-B253-4A13-A63A-802DFAD8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2925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C85034"/>
                </a:solidFill>
                <a:latin typeface="Arial"/>
                <a:ea typeface="Arial"/>
                <a:cs typeface="Arial"/>
              </a:defRPr>
            </a:pPr>
            <a:r>
              <a:t>61–90 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B09B0E-0F9B-4C7E-B39F-BC0FC750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753100"/>
            <a:ext cx="3143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F28"/>
                </a:solidFill>
                <a:latin typeface="Arial"/>
                <a:ea typeface="Arial"/>
                <a:cs typeface="Arial"/>
              </a:defRPr>
            </a:pPr>
            <a:r>
              <a:t>平台套装 + 服务证明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753267-AEEE-453B-82A6-E8DBD081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91250"/>
            <a:ext cx="11125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0" i="0">
                <a:solidFill>
                  <a:srgbClr val="65716B"/>
                </a:solidFill>
                <a:latin typeface="Arial"/>
                <a:ea typeface="Arial"/>
                <a:cs typeface="Arial"/>
              </a:defRPr>
            </a:pPr>
            <a:r>
              <a:t>KPI：无救援完成率 · 退货原因 · 安装完成率 · 耗材附加率 · 服务响应</a:t>
            </a:r>
          </a:p>
        </p:txBody>
      </p:sp>
    </p:spTree>
    <p:extLst>
      <p:ext uri="{BB962C8B-B14F-4D97-AF65-F5344CB8AC3E}">
        <p14:creationId xmlns:p14="http://schemas.microsoft.com/office/powerpoint/2010/main" val="9124827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5F68ED-E12C-443C-AB15-0D7A4949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000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85034"/>
                </a:solidFill>
                <a:latin typeface="Arial"/>
                <a:ea typeface="Arial"/>
                <a:cs typeface="Arial"/>
              </a:defRPr>
            </a:pPr>
            <a:r>
              <a:t>07  SOUTHEAST ASIA GTM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157AFA-4EEC-40B0-9391-C5CB57DC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"/>
            <a:ext cx="111252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102F28"/>
                </a:solidFill>
                <a:latin typeface="Georgia"/>
                <a:ea typeface="Georgia"/>
                <a:cs typeface="Georgia"/>
              </a:defRPr>
            </a:pPr>
            <a:r>
              <a:t>先用新加坡证明高端信任，再按价格与渠道向区域扩张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495300" y="1362075"/>
            <a:ext cx="111252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4B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433AF5-6EFA-4A84-A242-51300B0D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0191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65716B"/>
                </a:solidFill>
                <a:latin typeface="Arial"/>
                <a:ea typeface="Arial"/>
                <a:cs typeface="Arial"/>
              </a:defRPr>
            </a:pPr>
            <a:r>
              <a:t>Source: Roborock APAC country presence; author market-entry recommendation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BE0838-5C7C-42D7-920A-38EFC4B4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48425"/>
            <a:ext cx="552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C85034"/>
                </a:solidFill>
                <a:latin typeface="Arial"/>
                <a:ea typeface="Arial"/>
                <a:cs typeface="Arial"/>
              </a:defRPr>
            </a:pPr>
            <a:r>
              <a:t>08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2114550" y="3000375"/>
            <a:ext cx="274320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8C4B8"/>
            </a:solidFill>
            <a:prstDash val="solid"/>
          </a:ln>
        </p:spPr>
      </p:cxnSp>
      <p:cxnSp>
        <p:nvCxnSpPr>
          <p:cNvPr id="33" name=""/>
          <p:cNvCxnSpPr/>
          <p:nvPr/>
        </p:nvCxnSpPr>
        <p:spPr>
          <a:xfrm xmlns:a="http://schemas.openxmlformats.org/drawingml/2006/main">
            <a:off x="5924550" y="3000375"/>
            <a:ext cx="274320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8C4B8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9E1684-62FD-4245-8BD7-D597D314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476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C85034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F32300-1618-4694-9922-93F88197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57400"/>
            <a:ext cx="2095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C6655"/>
                </a:solidFill>
                <a:latin typeface="Georgia"/>
                <a:ea typeface="Georgia"/>
                <a:cs typeface="Georgia"/>
              </a:defRPr>
            </a:pPr>
            <a:r>
              <a:t>新加坡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322AAB-63CA-4440-9A28-482F9110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171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5716B"/>
                </a:solidFill>
                <a:latin typeface="Arial"/>
                <a:ea typeface="Arial"/>
                <a:cs typeface="Arial"/>
              </a:defRPr>
            </a:pPr>
            <a:r>
              <a:t>PREMIUM PROOF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6D7D11-2461-4CF7-8ED6-B145AEC9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76600"/>
            <a:ext cx="2476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2F28"/>
                </a:solidFill>
                <a:latin typeface="Arial"/>
                <a:ea typeface="Arial"/>
                <a:cs typeface="Arial"/>
              </a:defRPr>
            </a:pPr>
            <a:r>
              <a:t>Saros 建立高端锚点
Qrevo 主销
展厅 + 本地售后 + 案例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89B59D-4F06-4F4A-9C15-7752467E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14500"/>
            <a:ext cx="476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C85034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FB1D0D-E032-4F95-BA19-E8C02F08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57400"/>
            <a:ext cx="2857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F28"/>
                </a:solidFill>
                <a:latin typeface="Georgia"/>
                <a:ea typeface="Georgia"/>
                <a:cs typeface="Georgia"/>
              </a:defRPr>
            </a:pPr>
            <a:r>
              <a:t>马来西亚 · 泰国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F26778-E9A7-4541-B92F-26A141F0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7175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5716B"/>
                </a:solidFill>
                <a:latin typeface="Arial"/>
                <a:ea typeface="Arial"/>
                <a:cs typeface="Arial"/>
              </a:defRPr>
            </a:pPr>
            <a:r>
              <a:t>PARTNER-LED SCALE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A029FC-5EF4-4EE9-8157-D0B159B6A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76600"/>
            <a:ext cx="2857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2F28"/>
                </a:solidFill>
                <a:latin typeface="Arial"/>
                <a:ea typeface="Arial"/>
                <a:cs typeface="Arial"/>
              </a:defRPr>
            </a:pPr>
            <a:r>
              <a:t>Qrevo 作为量级英雄
本地语言内容
平台大促 + 展厅伙伴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D8358F-0247-46FB-8873-D27FDFB7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14500"/>
            <a:ext cx="476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C85034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8C21F4-61B1-4050-9DD0-07DEB2E3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57400"/>
            <a:ext cx="2667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F28"/>
                </a:solidFill>
                <a:latin typeface="Georgia"/>
                <a:ea typeface="Georgia"/>
                <a:cs typeface="Georgia"/>
              </a:defRPr>
            </a:pPr>
            <a:r>
              <a:t>印尼 · 越南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CBE91E-B51A-4C5B-95FB-39D50DD5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7175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5716B"/>
                </a:solidFill>
                <a:latin typeface="Arial"/>
                <a:ea typeface="Arial"/>
                <a:cs typeface="Arial"/>
              </a:defRPr>
            </a:pPr>
            <a:r>
              <a:t>PRICE-ACCESSIBLE GROWTH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49F6E6-81EB-40DA-99EA-881BB800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76600"/>
            <a:ext cx="2857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2F28"/>
                </a:solidFill>
                <a:latin typeface="Arial"/>
                <a:ea typeface="Arial"/>
                <a:cs typeface="Arial"/>
              </a:defRPr>
            </a:pPr>
            <a:r>
              <a:t>Q7 / Qrevo 入门
分期与平台转化
先建服务密度再冲销量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7FF3CF-EDD1-449F-8545-B3182961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05350"/>
            <a:ext cx="11125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655"/>
          </a:solidFill>
          <a:ln xmlns:a="http://schemas.openxmlformats.org/drawingml/2006/main" w="0">
            <a:solidFill>
              <a:srgbClr val="1C66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62BC25-58B4-4AA2-8E06-C4E752A3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66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t>标准化信任：诚实说明边界 · 本地保修维修 · 耗材供应 · 家庭演示 · 真实口碑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4E033F-016E-48AE-AB12-530C3071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197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C85034"/>
                </a:solidFill>
                <a:latin typeface="Arial"/>
                <a:ea typeface="Arial"/>
                <a:cs typeface="Arial"/>
              </a:defRPr>
            </a:pPr>
            <a:r>
              <a:t>给 Roborock 的四项建议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EDCBC4-D03F-41BD-BD14-F7D6867D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1980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F28"/>
                </a:solidFill>
                <a:latin typeface="Arial"/>
                <a:ea typeface="Arial"/>
                <a:cs typeface="Arial"/>
              </a:defRPr>
            </a:pPr>
            <a:r>
              <a:t>1  占领“每日干净基线”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B6A1E0-3F2D-4538-8D4B-6EDB672B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601980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F28"/>
                </a:solidFill>
                <a:latin typeface="Arial"/>
                <a:ea typeface="Arial"/>
                <a:cs typeface="Arial"/>
              </a:defRPr>
            </a:pPr>
            <a:r>
              <a:t>2  Qrevo 主销，Saros 锚定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AFE373-C3A3-4E9C-B524-BD929AC8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6019800"/>
            <a:ext cx="2571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F28"/>
                </a:solidFill>
                <a:latin typeface="Arial"/>
                <a:ea typeface="Arial"/>
                <a:cs typeface="Arial"/>
              </a:defRPr>
            </a:pPr>
            <a:r>
              <a:t>3  用服务证明高端溢价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EE9401-D72F-4F2E-AF78-6F349513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019800"/>
            <a:ext cx="2400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102F28"/>
                </a:solidFill>
                <a:latin typeface="Arial"/>
                <a:ea typeface="Arial"/>
                <a:cs typeface="Arial"/>
              </a:defRPr>
            </a:pPr>
            <a:r>
              <a:t>4  渠道与价格按国家本地化</a:t>
            </a:r>
          </a:p>
        </p:txBody>
      </p:sp>
    </p:spTree>
    <p:extLst>
      <p:ext uri="{BB962C8B-B14F-4D97-AF65-F5344CB8AC3E}">
        <p14:creationId xmlns:p14="http://schemas.microsoft.com/office/powerpoint/2010/main" val="17722945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2026-07-25T09:57:27.4730000Z</dcterms:created>
  <dcterms:modified xsi:type="dcterms:W3CDTF">2026-07-25T09:57:27.4730000Z</dcterms:modified>
</coreProperties>
</file>