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一般/室内清洁工</c:v>
          </c:tx>
          <c:spPr>
            <a:ln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2024/25</c:v>
              </c:pt>
              <c:pt idx="1">
                <c:v>2025/26</c:v>
              </c:pt>
              <c:pt idx="2">
                <c:v>2026/27</c:v>
              </c:pt>
              <c:pt idx="3">
                <c:v>2027/28</c:v>
              </c:pt>
              <c:pt idx="4">
                <c:v>2028/29</c:v>
              </c:pt>
            </c:strLit>
          </c:cat>
          <c:val>
            <c:numLit>
              <c:formatCode>General</c:formatCode>
              <c:ptCount val="5"/>
              <c:pt idx="0">
                <c:v>1740</c:v>
              </c:pt>
              <c:pt idx="1">
                <c:v>1910</c:v>
              </c:pt>
              <c:pt idx="2">
                <c:v>2080</c:v>
              </c:pt>
              <c:pt idx="3">
                <c:v>2250</c:v>
              </c:pt>
              <c:pt idx="4">
                <c:v>2420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0AE-1843-B727-F1165B802CC4}"/>
            </c:ext>
          </c:extLst>
        </c:ser>
        <c:ser>
          <c:idx val="1"/>
          <c:order val="1"/>
          <c:tx>
            <c:v>多技能/机操员</c:v>
          </c:tx>
          <c:spPr>
            <a:ln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2024/25</c:v>
              </c:pt>
              <c:pt idx="1">
                <c:v>2025/26</c:v>
              </c:pt>
              <c:pt idx="2">
                <c:v>2026/27</c:v>
              </c:pt>
              <c:pt idx="3">
                <c:v>2027/28</c:v>
              </c:pt>
              <c:pt idx="4">
                <c:v>2028/29</c:v>
              </c:pt>
            </c:strLit>
          </c:cat>
          <c:val>
            <c:numLit>
              <c:formatCode>General</c:formatCode>
              <c:ptCount val="5"/>
              <c:pt idx="0">
                <c:v>2270</c:v>
              </c:pt>
              <c:pt idx="1">
                <c:v>2530</c:v>
              </c:pt>
              <c:pt idx="2">
                <c:v>2700</c:v>
              </c:pt>
              <c:pt idx="3">
                <c:v>2870</c:v>
              </c:pt>
              <c:pt idx="4">
                <c:v>3040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0AE-1843-B727-F1165B802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300"/>
          <c:min val="150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50112"/>
        <c:crosses val="autoZero"/>
        <c:crossBetween val="between"/>
        <c:majorUnit val="30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cut-off: 24 July 2026.</a:t>
            </a:r>
          </a:p>
          <a:p>
            <a:r>
              <a:t>Cover image: AI-generated, unbranded concept visual; it is not a real deployment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0A8B0-B8D3-5C15-A2DB-57A65E2F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B42B9-6E9B-BE59-2145-A3FAC517C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B5F8-8192-D28E-B5EC-C70E1887B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https://www.lionsbot.com/wp-content/uploads/2022/07/Case-Study_EngLengContractors-3.pdf</a:t>
            </a:r>
          </a:p>
          <a:p>
            <a:r>
              <a:t>The deployment figures and six labour-hours saved per day are vendor-published and not independently audited.</a:t>
            </a:r>
          </a:p>
          <a:p>
            <a:r>
              <a:t>The regional sequencing is an author recommendation based on service-network, scenario and procurement considerations.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5A043-FE91-7B94-3218-A0B3A11E3C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8014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https://www.mom.gov.sg/newsroom/speeches/2026/0113-response-to-adj-motion-on-mdws</a:t>
            </a:r>
          </a:p>
          <a:p>
            <a:r>
              <a:t>https://www.mom.gov.sg/passes-and-permits/work-permit-for-foreign-domestic-worker/foreign-domestic-worker-levy/paying-levy</a:t>
            </a:r>
          </a:p>
          <a:p>
            <a:r>
              <a:t>https://www.reddit.com/r/askSingapore/comments/1p2snxi/</a:t>
            </a:r>
          </a:p>
          <a:p>
            <a:r>
              <a:t>https://www.reddit.com/r/askSingapore/comments/1foz7te/</a:t>
            </a:r>
          </a:p>
          <a:p>
            <a:r>
              <a:t>Reddit evidence is qualitative and not representative of the full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https://www.mom.gov.sg/employment-practices/progressive-wage-model/cleaning-sector</a:t>
            </a:r>
          </a:p>
          <a:p>
            <a:r>
              <a:t>https://www.nea.gov.sg/media/news/news/index/environmental-services-industry-transformation-map-2025-to-strengthen-innovation-improve-productivity-and-create-quality-jobs</a:t>
            </a:r>
          </a:p>
          <a:p>
            <a:r>
              <a:t>https://www.nea.gov.sg/industry-transformation-map/intensify-innovation-and-technology-adoption/incubate</a:t>
            </a:r>
          </a:p>
          <a:p>
            <a:r>
              <a:t>The PWM series is a published wage schedule, not a market forecast.</a:t>
            </a:r>
          </a:p>
          <a:p>
            <a:r>
              <a:t>The &gt;=30% INCUBATE figure covers supported equipment/digital solutions and is not specific to every cleaning robot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https://www.nea.gov.sg/docs/default-source/itm/obc-guides/guide-on-specifications-for-outcome-based-cleaning-contracts-2026-3rd-edition.pdf</a:t>
            </a:r>
          </a:p>
          <a:p>
            <a:r>
              <a:t>https://nrp.gov.sg/industry-and-partnerships/robocluster/facilities-management</a:t>
            </a:r>
          </a:p>
          <a:p>
            <a:r>
              <a:t>Scenario prioritisation and buying-chain emphasis are author synthesis based on cited procurement guidance and deployment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Official product sources:</a:t>
            </a:r>
          </a:p>
          <a:p>
            <a:r>
              <a:t>https://www.lionsbot.com/r3-scrub-pro-compact-robotic-floor-scrubber/</a:t>
            </a:r>
          </a:p>
          <a:p>
            <a:r>
              <a:t>https://gausium.com/wp-content/uploads/2022/10/Brochure_Phantas-V1.3_250507.pdf</a:t>
            </a:r>
          </a:p>
          <a:p>
            <a:r>
              <a:t>https://www.pudurobotics.com/en/products/cc1-pro</a:t>
            </a:r>
          </a:p>
          <a:p>
            <a:r>
              <a:t>https://avidbots.com/assets/Uploads/Neo_2W_Cylindrical_Cleaning_Head_Technical_Specs_2024.pdf</a:t>
            </a:r>
          </a:p>
          <a:p>
            <a:r>
              <a:t>https://www.tennantco.com/en_ap/1/machines/scrubbers/product.x4-rovr.autonomous-floor-scrubber.2000084.html</a:t>
            </a:r>
          </a:p>
          <a:p>
            <a:r>
              <a:t>https://www.kaercher.com/ae/professional/cleaning-robots/kira-b-50-15330020.html</a:t>
            </a:r>
          </a:p>
          <a:p>
            <a:r>
              <a:t>Singapore channel/reference sources:</a:t>
            </a:r>
          </a:p>
          <a:p>
            <a:r>
              <a:t>https://www.pudu.sg/products/cc1/</a:t>
            </a:r>
          </a:p>
          <a:p>
            <a:r>
              <a:t>https://avidbots.com/news/avidbots-news-avidbots-neo-intelligent-floor-cleaning-robots-to-be-deployed-at-changi-airport-in-singapore/</a:t>
            </a:r>
          </a:p>
          <a:p>
            <a:r>
              <a:t>https://avidbots.com/news/avidbots-news-singapores-pioneer-train-operator-smrt-trains-collaborates-with-avidbots-to-deliver-an-enhanced-passanger-experience/</a:t>
            </a:r>
          </a:p>
          <a:p>
            <a:r>
              <a:t>https://www.begen.sg/</a:t>
            </a:r>
          </a:p>
          <a:p>
            <a:r>
              <a:t>Vendor metrics use different definitions and should not be ranked without a controlled site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https://www.nea.gov.sg/industry-transformation-map/grow-productive-firms-to-enhance-resilience/outcome-based-contracting-%28obc%29</a:t>
            </a:r>
          </a:p>
          <a:p>
            <a:r>
              <a:t>https://www.nea.gov.sg/docs/default-source/itm/obc-guides/guide-on-specifications-for-outcome-based-cleaning-contracts-2026-3rd-edition.pdf</a:t>
            </a:r>
          </a:p>
          <a:p>
            <a:r>
              <a:t>https://www.imda.gov.sg/about-imda/research-and-statistics/support-for-industry-sectors/enterprise-digital-transformation/autonomous-mobile-robots</a:t>
            </a:r>
          </a:p>
          <a:p>
            <a:r>
              <a:t>The staged pilot-to-RaaS-to-OBC route is an author recommendation, not a government-prescribed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https://www.nea.gov.sg/docs/default-source/itm/obc-guides/guide-on-specifications-for-outcome-based-cleaning-contracts-2026-3rd-edition.pdf</a:t>
            </a:r>
          </a:p>
          <a:p>
            <a:r>
              <a:t>https://www.reddit.com/r/singapore/comments/1c6x1fx/</a:t>
            </a:r>
          </a:p>
          <a:p>
            <a:r>
              <a:t>https://www.reddit.com/r/singapore/comments/18a74ve/</a:t>
            </a:r>
          </a:p>
          <a:p>
            <a:r>
              <a:t>Reddit is used only to identify recurring objections; it is not representative market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https://www.lionsbot.com/wp-content/uploads/2022/07/Case-Study_EngLengContractors-3.pdf</a:t>
            </a:r>
          </a:p>
          <a:p>
            <a:r>
              <a:t>The deployment figures and six labour-hours saved per day are vendor-published and not independently audited.</a:t>
            </a:r>
          </a:p>
          <a:p>
            <a:r>
              <a:t>The regional sequencing is an author recommendation based on service-network, scenario and procurement considerations.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130C2DC-9ABF-4802-BC5E-AC4FB45C17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7F5B40-6F97-405F-865A-342721A13C92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1066800" cy="76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E0CC30-DD93-4541-99E7-CD7F16E9CA23}"/>
              </a:ext>
            </a:extLst>
          </p:cNvPr>
          <p:cNvSpPr>
            <a:spLocks noGrp="1"/>
          </p:cNvSpPr>
          <p:nvPr/>
        </p:nvSpPr>
        <p:spPr>
          <a:xfrm>
            <a:off x="400050" y="895350"/>
            <a:ext cx="6096000" cy="17907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清洁机器人
如何打开东南亚？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ED5124-727F-4409-9BBD-87085401CE5C}"/>
              </a:ext>
            </a:extLst>
          </p:cNvPr>
          <p:cNvSpPr>
            <a:spLocks noGrp="1"/>
          </p:cNvSpPr>
          <p:nvPr/>
        </p:nvSpPr>
        <p:spPr>
          <a:xfrm>
            <a:off x="419100" y="3105150"/>
            <a:ext cx="514350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以新加坡商用市场为切入口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1AEBD2-3524-4628-9084-4121F996B320}"/>
              </a:ext>
            </a:extLst>
          </p:cNvPr>
          <p:cNvSpPr>
            <a:spLocks noGrp="1"/>
          </p:cNvSpPr>
          <p:nvPr/>
        </p:nvSpPr>
        <p:spPr>
          <a:xfrm>
            <a:off x="419100" y="3867150"/>
            <a:ext cx="5191125" cy="876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家庭端做补充，商用端做规模
从“卖设备”转向“卖可量化的清洁结果”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65FDFD-F589-4F6E-9891-E745117675E8}"/>
              </a:ext>
            </a:extLst>
          </p:cNvPr>
          <p:cNvSpPr>
            <a:spLocks noGrp="1"/>
          </p:cNvSpPr>
          <p:nvPr/>
        </p:nvSpPr>
        <p:spPr>
          <a:xfrm>
            <a:off x="419100" y="5200650"/>
            <a:ext cx="4953000" cy="7048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1165F9-412D-4388-B59D-5C314683A6C5}"/>
              </a:ext>
            </a:extLst>
          </p:cNvPr>
          <p:cNvSpPr>
            <a:spLocks noGrp="1"/>
          </p:cNvSpPr>
          <p:nvPr/>
        </p:nvSpPr>
        <p:spPr>
          <a:xfrm>
            <a:off x="590550" y="5334000"/>
            <a:ext cx="952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核心判断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F3A850-D635-4A00-8FCA-09B6A5B5A076}"/>
              </a:ext>
            </a:extLst>
          </p:cNvPr>
          <p:cNvSpPr>
            <a:spLocks noGrp="1"/>
          </p:cNvSpPr>
          <p:nvPr/>
        </p:nvSpPr>
        <p:spPr>
          <a:xfrm>
            <a:off x="590550" y="5591175"/>
            <a:ext cx="44577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机器人不替代人，而是重配高频、重复劳动。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D911AE-A226-490B-BEE5-62664DD8A307}"/>
              </a:ext>
            </a:extLst>
          </p:cNvPr>
          <p:cNvSpPr>
            <a:spLocks noGrp="1"/>
          </p:cNvSpPr>
          <p:nvPr/>
        </p:nvSpPr>
        <p:spPr>
          <a:xfrm>
            <a:off x="419100" y="6305550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个人研究项目 · 2026.07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F93FD3-77C6-4F29-A5AD-C1F81989AAD9}"/>
              </a:ext>
            </a:extLst>
          </p:cNvPr>
          <p:cNvSpPr>
            <a:spLocks noGrp="1"/>
          </p:cNvSpPr>
          <p:nvPr/>
        </p:nvSpPr>
        <p:spPr>
          <a:xfrm>
            <a:off x="8591550" y="6515100"/>
            <a:ext cx="3143250" cy="1619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封面为 AI 生成示意图，无品牌指向</a:t>
            </a:r>
          </a:p>
        </p:txBody>
      </p:sp>
    </p:spTree>
    <p:extLst>
      <p:ext uri="{BB962C8B-B14F-4D97-AF65-F5344CB8AC3E}">
        <p14:creationId xmlns:p14="http://schemas.microsoft.com/office/powerpoint/2010/main" val="68862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6879-0C0E-DC41-F0E8-95EF7AD6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75E6C21D-DFD8-7F1D-6600-83D0804588B1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 </a:t>
            </a:r>
            <a:r>
              <a:rPr dirty="0"/>
              <a:t>CASE &amp; SEA PLAYBOOK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7D43A1-436C-BE0F-613C-233118101D4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真实案例：2 台机器人跑通商场，再复制到东南亚</a:t>
            </a: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CDD9AFA-35E3-FB81-A982-C56189A0E48C}"/>
              </a:ext>
            </a:extLst>
          </p:cNvPr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4F7DE5E-6B7F-50CD-8103-AC1E9D26B9C5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LionsBot / Eng Leng Contractors case study, Ngee Ann City (vendor-published, Jun 2021)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0F611-9383-7896-5390-3534426C1F33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B3F754-7691-4177-831E-6AE4D1DDEB6E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5143500" cy="3733800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F6CDE5-A317-FEDD-7BC3-869210A6DE15}"/>
              </a:ext>
            </a:extLst>
          </p:cNvPr>
          <p:cNvSpPr>
            <a:spLocks noGrp="1"/>
          </p:cNvSpPr>
          <p:nvPr/>
        </p:nvSpPr>
        <p:spPr>
          <a:xfrm>
            <a:off x="5905500" y="1466850"/>
            <a:ext cx="561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Ngee Ann City · Eng Leng Contractors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10934F-C0F8-872B-9076-96744BC4C96D}"/>
              </a:ext>
            </a:extLst>
          </p:cNvPr>
          <p:cNvSpPr>
            <a:spLocks noGrp="1"/>
          </p:cNvSpPr>
          <p:nvPr/>
        </p:nvSpPr>
        <p:spPr>
          <a:xfrm>
            <a:off x="5905500" y="1905000"/>
            <a:ext cx="561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大型开放商场先验证路线与人机协作，再将“报告透明度”变成续约与扩点证据。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FEBC28-2A23-2A81-DFFD-09E7C540E7F4}"/>
              </a:ext>
            </a:extLst>
          </p:cNvPr>
          <p:cNvSpPr>
            <a:spLocks noGrp="1"/>
          </p:cNvSpPr>
          <p:nvPr/>
        </p:nvSpPr>
        <p:spPr>
          <a:xfrm>
            <a:off x="5905500" y="26098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3E67D75-DBE8-22E8-156E-82E27C80D1AD}"/>
              </a:ext>
            </a:extLst>
          </p:cNvPr>
          <p:cNvSpPr>
            <a:spLocks noGrp="1"/>
          </p:cNvSpPr>
          <p:nvPr/>
        </p:nvSpPr>
        <p:spPr>
          <a:xfrm>
            <a:off x="7829550" y="26098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FE92B80-BB36-0E40-5029-94F389CDA837}"/>
              </a:ext>
            </a:extLst>
          </p:cNvPr>
          <p:cNvSpPr>
            <a:spLocks noGrp="1"/>
          </p:cNvSpPr>
          <p:nvPr/>
        </p:nvSpPr>
        <p:spPr>
          <a:xfrm>
            <a:off x="9753600" y="26098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9BAA7F-0CE2-3477-CDDB-F9C08E20A1AE}"/>
              </a:ext>
            </a:extLst>
          </p:cNvPr>
          <p:cNvSpPr>
            <a:spLocks noGrp="1"/>
          </p:cNvSpPr>
          <p:nvPr/>
        </p:nvSpPr>
        <p:spPr>
          <a:xfrm>
            <a:off x="6115050" y="2743200"/>
            <a:ext cx="12954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 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8CF7F8-BE44-970E-1DD2-E718D7B38B93}"/>
              </a:ext>
            </a:extLst>
          </p:cNvPr>
          <p:cNvSpPr>
            <a:spLocks noGrp="1"/>
          </p:cNvSpPr>
          <p:nvPr/>
        </p:nvSpPr>
        <p:spPr>
          <a:xfrm>
            <a:off x="6115050" y="3200400"/>
            <a:ext cx="1295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LeoScrub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434FB7-361D-3DFE-AF09-0F929C3D05F9}"/>
              </a:ext>
            </a:extLst>
          </p:cNvPr>
          <p:cNvSpPr>
            <a:spLocks noGrp="1"/>
          </p:cNvSpPr>
          <p:nvPr/>
        </p:nvSpPr>
        <p:spPr>
          <a:xfrm>
            <a:off x="8039100" y="2743200"/>
            <a:ext cx="12954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472819-CCB6-87D7-C0E8-45C86B1E8C71}"/>
              </a:ext>
            </a:extLst>
          </p:cNvPr>
          <p:cNvSpPr>
            <a:spLocks noGrp="1"/>
          </p:cNvSpPr>
          <p:nvPr/>
        </p:nvSpPr>
        <p:spPr>
          <a:xfrm>
            <a:off x="8039100" y="3200400"/>
            <a:ext cx="1295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部署与培训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5D9B9F-F5C4-8F64-AEB1-0C36C38AB2BB}"/>
              </a:ext>
            </a:extLst>
          </p:cNvPr>
          <p:cNvSpPr>
            <a:spLocks noGrp="1"/>
          </p:cNvSpPr>
          <p:nvPr/>
        </p:nvSpPr>
        <p:spPr>
          <a:xfrm>
            <a:off x="9963150" y="2743200"/>
            <a:ext cx="12954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325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6 小时/天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1E2238-CDAC-657B-6FF5-07810E46E932}"/>
              </a:ext>
            </a:extLst>
          </p:cNvPr>
          <p:cNvSpPr>
            <a:spLocks noGrp="1"/>
          </p:cNvSpPr>
          <p:nvPr/>
        </p:nvSpPr>
        <p:spPr>
          <a:xfrm>
            <a:off x="9963150" y="3200400"/>
            <a:ext cx="1295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报告节省工时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5C1213-8AFC-83DC-4376-4FE08E01E6B5}"/>
              </a:ext>
            </a:extLst>
          </p:cNvPr>
          <p:cNvSpPr>
            <a:spLocks noGrp="1"/>
          </p:cNvSpPr>
          <p:nvPr/>
        </p:nvSpPr>
        <p:spPr>
          <a:xfrm>
            <a:off x="5905500" y="3810000"/>
            <a:ext cx="5562600" cy="971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• 路线和排班与商场人流共同优化
• App 监控与清洁报告提升客户透明度
• 员工把时间转向其他清洁任务
• 结果来自厂商案例，需独立试点复核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A94583-D781-0D37-4187-773EBE83349A}"/>
              </a:ext>
            </a:extLst>
          </p:cNvPr>
          <p:cNvSpPr>
            <a:spLocks noGrp="1"/>
          </p:cNvSpPr>
          <p:nvPr/>
        </p:nvSpPr>
        <p:spPr>
          <a:xfrm>
            <a:off x="5905500" y="4876800"/>
            <a:ext cx="5562600" cy="361950"/>
          </a:xfrm>
          <a:prstGeom prst="rect">
            <a:avLst/>
          </a:prstGeom>
          <a:solidFill>
            <a:srgbClr val="102335"/>
          </a:solidFill>
          <a:ln w="0">
            <a:solidFill>
              <a:srgbClr val="1023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CB405B-E0ED-98BF-2232-765BB206E2D0}"/>
              </a:ext>
            </a:extLst>
          </p:cNvPr>
          <p:cNvSpPr>
            <a:spLocks noGrp="1"/>
          </p:cNvSpPr>
          <p:nvPr/>
        </p:nvSpPr>
        <p:spPr>
          <a:xfrm>
            <a:off x="6076950" y="4962525"/>
            <a:ext cx="5219700" cy="209550"/>
          </a:xfrm>
          <a:prstGeom prst="rect">
            <a:avLst/>
          </a:prstGeom>
        </p:spPr>
        <p:txBody>
          <a:bodyPr wrap="square" lIns="0" tIns="0" rIns="0" bIns="0" anchor="t">
            <a:normAutofit fontScale="99462"/>
          </a:bodyPr>
          <a:lstStyle/>
          <a:p>
            <a:pPr algn="ctr">
              <a:defRPr sz="131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不要只出口硬件；要出口“场勘—KPI—培训—备件—报告”的交付方法。</a:t>
            </a: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C22750F1-C187-AD44-98F2-AAC6745DBCFC}"/>
              </a:ext>
            </a:extLst>
          </p:cNvPr>
          <p:cNvCxnSpPr/>
          <p:nvPr/>
        </p:nvCxnSpPr>
        <p:spPr>
          <a:xfrm>
            <a:off x="1676400" y="5753100"/>
            <a:ext cx="8858250" cy="286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BD5AFA1F-9C0A-EC9D-D530-44F10A2473C4}"/>
              </a:ext>
            </a:extLst>
          </p:cNvPr>
          <p:cNvSpPr>
            <a:spLocks noGrp="1"/>
          </p:cNvSpPr>
          <p:nvPr/>
        </p:nvSpPr>
        <p:spPr>
          <a:xfrm>
            <a:off x="1581150" y="5657850"/>
            <a:ext cx="190500" cy="190500"/>
          </a:xfrm>
          <a:prstGeom prst="ellipse">
            <a:avLst/>
          </a:prstGeom>
          <a:solidFill>
            <a:srgbClr val="3D8D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9C43815-1888-691B-AE7E-B98D03B79475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190500" cy="19050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E84F924-3B85-932E-8677-756857012B94}"/>
              </a:ext>
            </a:extLst>
          </p:cNvPr>
          <p:cNvSpPr>
            <a:spLocks noGrp="1"/>
          </p:cNvSpPr>
          <p:nvPr/>
        </p:nvSpPr>
        <p:spPr>
          <a:xfrm>
            <a:off x="10439400" y="5657850"/>
            <a:ext cx="190500" cy="190500"/>
          </a:xfrm>
          <a:prstGeom prst="ellipse">
            <a:avLst/>
          </a:prstGeom>
          <a:solidFill>
            <a:srgbClr val="2E9D7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57005F3-5826-F63B-48C2-809B96C4C4D9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203835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新加坡：灯塔案例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27A75AE-D573-2CF4-23B1-4BC2F74086B9}"/>
              </a:ext>
            </a:extLst>
          </p:cNvPr>
          <p:cNvSpPr>
            <a:spLocks noGrp="1"/>
          </p:cNvSpPr>
          <p:nvPr/>
        </p:nvSpPr>
        <p:spPr>
          <a:xfrm>
            <a:off x="552450" y="5924550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 fontScale="95921" lnSpcReduction="10000"/>
          </a:bodyPr>
          <a:lstStyle/>
          <a:p>
            <a:pPr algn="ctr">
              <a:defRPr sz="12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FM 承包商 + 商场/机场
先卖试点与本地 SLA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44B142-2CB1-9F91-7277-3A92CCEF3610}"/>
              </a:ext>
            </a:extLst>
          </p:cNvPr>
          <p:cNvSpPr>
            <a:spLocks noGrp="1"/>
          </p:cNvSpPr>
          <p:nvPr/>
        </p:nvSpPr>
        <p:spPr>
          <a:xfrm>
            <a:off x="5010150" y="5410200"/>
            <a:ext cx="203835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马来西亚 / 泰国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593E4D-C5A0-53C1-2A69-2FB5D9852D49}"/>
              </a:ext>
            </a:extLst>
          </p:cNvPr>
          <p:cNvSpPr>
            <a:spLocks noGrp="1"/>
          </p:cNvSpPr>
          <p:nvPr/>
        </p:nvSpPr>
        <p:spPr>
          <a:xfrm>
            <a:off x="4857750" y="5924550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 fontScale="95921" lnSpcReduction="10000"/>
          </a:bodyPr>
          <a:lstStyle/>
          <a:p>
            <a:pPr algn="ctr">
              <a:defRPr sz="12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经销商 + RaaS
商场、酒店与医疗公共区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52E44D-8FAB-9A7B-E205-5BF7A7FE4320}"/>
              </a:ext>
            </a:extLst>
          </p:cNvPr>
          <p:cNvSpPr>
            <a:spLocks noGrp="1"/>
          </p:cNvSpPr>
          <p:nvPr/>
        </p:nvSpPr>
        <p:spPr>
          <a:xfrm>
            <a:off x="9429750" y="5410200"/>
            <a:ext cx="203835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印尼 / 越南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F20172-1414-2B05-713D-DB03AF064B87}"/>
              </a:ext>
            </a:extLst>
          </p:cNvPr>
          <p:cNvSpPr>
            <a:spLocks noGrp="1"/>
          </p:cNvSpPr>
          <p:nvPr/>
        </p:nvSpPr>
        <p:spPr>
          <a:xfrm>
            <a:off x="9277350" y="5924550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 fontScale="95921" lnSpcReduction="10000"/>
          </a:bodyPr>
          <a:lstStyle/>
          <a:p>
            <a:pPr algn="ctr">
              <a:defRPr sz="12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伙伴服务 + 工业场景
仓储、工厂与大型园区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98AF1EDA-E374-5F58-643E-BC9E0FA0C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1607234"/>
            <a:ext cx="4991100" cy="352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8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58B7B46-CAFD-4F22-8268-DACD637B5835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 POSITIONING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1BA7A9-2D57-479F-B357-823481A1BBF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家庭市场：机器人不替代女佣，只承包每日地面维护</a:t>
            </a: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A516CADF-619C-470D-8BF5-21FC008104A8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MOM MDW population/levy (2026); Reddit r/askSingapore (Sep 2024, Nov 2025; directional only)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0A131-9010-491E-B7EF-FD80E79C50C1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F22733-65BC-4200-B540-DD9576876BD8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113919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约 30 万名外籍家庭佣工承担照护、烹饪与家务等复合任务；地面机器人只覆盖其中最标准化的一小部分。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13BD752-1742-4D01-8E41-85C94FAD0D30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524500" cy="1504950"/>
          </a:xfrm>
          <a:prstGeom prst="roundRect">
            <a:avLst>
              <a:gd name="adj" fmla="val 5063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E7620F5-407E-4818-8874-34EDDD875240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5524500" cy="1504950"/>
          </a:xfrm>
          <a:prstGeom prst="roundRect">
            <a:avLst>
              <a:gd name="adj" fmla="val 5063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7FF754-0F00-4CF2-AB16-02B02FAFAAB8}"/>
              </a:ext>
            </a:extLst>
          </p:cNvPr>
          <p:cNvSpPr>
            <a:spLocks noGrp="1"/>
          </p:cNvSpPr>
          <p:nvPr/>
        </p:nvSpPr>
        <p:spPr>
          <a:xfrm>
            <a:off x="647700" y="2419350"/>
            <a:ext cx="49530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清洁机器人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A624E3-96AD-47D2-AC9E-4DF9CB4AB26E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49530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高频地面维护 · 定时运行 · 隐私友好
边界：楼梯、杂物、卫生间、边角与深度清洁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2048C2-4FEA-4A90-9B2A-DCB1E47B1013}"/>
              </a:ext>
            </a:extLst>
          </p:cNvPr>
          <p:cNvSpPr>
            <a:spLocks noGrp="1"/>
          </p:cNvSpPr>
          <p:nvPr/>
        </p:nvSpPr>
        <p:spPr>
          <a:xfrm>
            <a:off x="6515100" y="2419350"/>
            <a:ext cx="49530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女佣 / 家政服务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790AA8-C932-4C06-834B-5C4F80BBD2CB}"/>
              </a:ext>
            </a:extLst>
          </p:cNvPr>
          <p:cNvSpPr>
            <a:spLocks noGrp="1"/>
          </p:cNvSpPr>
          <p:nvPr/>
        </p:nvSpPr>
        <p:spPr>
          <a:xfrm>
            <a:off x="6515100" y="2933700"/>
            <a:ext cx="49530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照护、做饭、洗衣、整理与深清的复合服务
成本之外，还包含管理、匹配与居住安排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56CE8E-3D21-4EF4-94E6-E6396D8DC2E6}"/>
              </a:ext>
            </a:extLst>
          </p:cNvPr>
          <p:cNvSpPr>
            <a:spLocks noGrp="1"/>
          </p:cNvSpPr>
          <p:nvPr/>
        </p:nvSpPr>
        <p:spPr>
          <a:xfrm>
            <a:off x="400050" y="4057650"/>
            <a:ext cx="2476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最优家庭组合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2E9CBE-3C28-4B33-900F-293C92F020CB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5524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机器人每日清洁 + 每月/双周人工深清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013E80-321E-44AA-A22C-00E628995759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5524500" cy="990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新加坡 Reddit 的典型经验是：日常粉尘交给机器人，角落、风扇、窗户与顽固污渍仍交给人。DINK 家庭甚至采用“每日机器人 + 每月家政”的组合。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41106C-259C-4FA6-AD55-C93A97C62647}"/>
              </a:ext>
            </a:extLst>
          </p:cNvPr>
          <p:cNvSpPr>
            <a:spLocks noGrp="1"/>
          </p:cNvSpPr>
          <p:nvPr/>
        </p:nvSpPr>
        <p:spPr>
          <a:xfrm>
            <a:off x="6267450" y="4057650"/>
            <a:ext cx="2476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选择规则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F6FEFA-17E6-4488-9633-365FA8E67D1C}"/>
              </a:ext>
            </a:extLst>
          </p:cNvPr>
          <p:cNvSpPr>
            <a:spLocks noGrp="1"/>
          </p:cNvSpPr>
          <p:nvPr/>
        </p:nvSpPr>
        <p:spPr>
          <a:xfrm>
            <a:off x="6267450" y="4457700"/>
            <a:ext cx="5524500" cy="742950"/>
          </a:xfrm>
          <a:prstGeom prst="rect">
            <a:avLst/>
          </a:prstGeom>
          <a:solidFill>
            <a:srgbClr val="102335"/>
          </a:solidFill>
          <a:ln w="0">
            <a:solidFill>
              <a:srgbClr val="1023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C6D41C-16B6-4816-B39E-15B892EA84B2}"/>
              </a:ext>
            </a:extLst>
          </p:cNvPr>
          <p:cNvSpPr>
            <a:spLocks noGrp="1"/>
          </p:cNvSpPr>
          <p:nvPr/>
        </p:nvSpPr>
        <p:spPr>
          <a:xfrm>
            <a:off x="6515100" y="4591050"/>
            <a:ext cx="502920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地面频次高、任务广度低 → 机器人
照护/全屋任务广度高 → 人工服务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784F77-CE0D-44C2-BAE3-7FA73DB2867F}"/>
              </a:ext>
            </a:extLst>
          </p:cNvPr>
          <p:cNvSpPr>
            <a:spLocks noGrp="1"/>
          </p:cNvSpPr>
          <p:nvPr/>
        </p:nvSpPr>
        <p:spPr>
          <a:xfrm>
            <a:off x="6267450" y="5410200"/>
            <a:ext cx="552450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家庭端市场语言：不要承诺“替代女佣”；应承诺“每天回家都有干净地面”，并降低安装、维护和杂物整理门槛。</a:t>
            </a:r>
          </a:p>
        </p:txBody>
      </p:sp>
    </p:spTree>
    <p:extLst>
      <p:ext uri="{BB962C8B-B14F-4D97-AF65-F5344CB8AC3E}">
        <p14:creationId xmlns:p14="http://schemas.microsoft.com/office/powerpoint/2010/main" val="197817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FF43BD1-9415-4BDF-82CF-5D6E68583DAA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 WHY SINGAPORE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C720E3-D2C8-4C51-8144-D72BCDCFBCA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 fontScale="81440" lnSpcReduction="10000"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新加坡商用市场更适合先成交：工资、OBC 与示范场景同时推动</a:t>
            </a:r>
          </a:p>
        </p:txBody>
      </p:sp>
      <p:cxnSp>
        <p:nvCxnSpPr>
          <p:cNvPr id="25" name="直线箭头连接符 24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598B5B6-B86A-46E1-91F1-CEDADDC7BF5B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MOM Cleaning PWM (updated 21 Jul 2026); NEA ES ITM 2025; NEA INCUBATE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A23FC4-65A5-49A7-95FC-840A116E746C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6C4CF-D2C9-4EA5-9313-2DF4CEA0C271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550545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清洁行业不是单纯缺人，而是被政策引导从“买人头”转向“买结果”。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1CE8E1E-AE2F-444D-9111-8F01D2BA8BD5}"/>
              </a:ext>
            </a:extLst>
          </p:cNvPr>
          <p:cNvSpPr>
            <a:spLocks noGrp="1"/>
          </p:cNvSpPr>
          <p:nvPr/>
        </p:nvSpPr>
        <p:spPr>
          <a:xfrm>
            <a:off x="6286500" y="2362200"/>
            <a:ext cx="2571750" cy="1371600"/>
          </a:xfrm>
          <a:prstGeom prst="roundRect">
            <a:avLst>
              <a:gd name="adj" fmla="val 5556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7A4F6EF-D087-42FE-966A-0B72805D9570}"/>
              </a:ext>
            </a:extLst>
          </p:cNvPr>
          <p:cNvSpPr>
            <a:spLocks noGrp="1"/>
          </p:cNvSpPr>
          <p:nvPr/>
        </p:nvSpPr>
        <p:spPr>
          <a:xfrm>
            <a:off x="9220200" y="2362200"/>
            <a:ext cx="2571750" cy="137160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EB9975E-76AA-444F-B833-B1913636DEB5}"/>
              </a:ext>
            </a:extLst>
          </p:cNvPr>
          <p:cNvSpPr>
            <a:spLocks noGrp="1"/>
          </p:cNvSpPr>
          <p:nvPr/>
        </p:nvSpPr>
        <p:spPr>
          <a:xfrm>
            <a:off x="6286500" y="4057650"/>
            <a:ext cx="2571750" cy="137160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79EE5A4-9F99-421D-8C45-51BB411BFCB4}"/>
              </a:ext>
            </a:extLst>
          </p:cNvPr>
          <p:cNvSpPr>
            <a:spLocks noGrp="1"/>
          </p:cNvSpPr>
          <p:nvPr/>
        </p:nvSpPr>
        <p:spPr>
          <a:xfrm>
            <a:off x="9220200" y="4057650"/>
            <a:ext cx="2571750" cy="1371600"/>
          </a:xfrm>
          <a:prstGeom prst="roundRect">
            <a:avLst>
              <a:gd name="adj" fmla="val 5556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9055D3-B91E-4ED3-9E6E-8E2CDC5C3901}"/>
              </a:ext>
            </a:extLst>
          </p:cNvPr>
          <p:cNvSpPr>
            <a:spLocks noGrp="1"/>
          </p:cNvSpPr>
          <p:nvPr/>
        </p:nvSpPr>
        <p:spPr>
          <a:xfrm>
            <a:off x="6515100" y="255270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S$2,080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2EDD7B-DFF8-4C54-BC1D-081F88BFA720}"/>
              </a:ext>
            </a:extLst>
          </p:cNvPr>
          <p:cNvSpPr>
            <a:spLocks noGrp="1"/>
          </p:cNvSpPr>
          <p:nvPr/>
        </p:nvSpPr>
        <p:spPr>
          <a:xfrm>
            <a:off x="6515100" y="310515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商办类一般清洁工
2026/27 月基本工资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3085DF-BC79-4DED-AC41-6E5D8D241CB5}"/>
              </a:ext>
            </a:extLst>
          </p:cNvPr>
          <p:cNvSpPr>
            <a:spLocks noGrp="1"/>
          </p:cNvSpPr>
          <p:nvPr/>
        </p:nvSpPr>
        <p:spPr>
          <a:xfrm>
            <a:off x="9448800" y="255270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S$2,700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A30B9B-C603-44AD-BF58-A8CDE0B8854B}"/>
              </a:ext>
            </a:extLst>
          </p:cNvPr>
          <p:cNvSpPr>
            <a:spLocks noGrp="1"/>
          </p:cNvSpPr>
          <p:nvPr/>
        </p:nvSpPr>
        <p:spPr>
          <a:xfrm>
            <a:off x="9448800" y="310515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多技能清洁工 / 机操员
2026/27 月基本工资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DF6A0E-EA7C-409B-A2CC-FB86A225CB1D}"/>
              </a:ext>
            </a:extLst>
          </p:cNvPr>
          <p:cNvSpPr>
            <a:spLocks noGrp="1"/>
          </p:cNvSpPr>
          <p:nvPr/>
        </p:nvSpPr>
        <p:spPr>
          <a:xfrm>
            <a:off x="6515100" y="424815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≈40%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62CA65-66C7-48E6-9FAA-EAE24966F05B}"/>
              </a:ext>
            </a:extLst>
          </p:cNvPr>
          <p:cNvSpPr>
            <a:spLocks noGrp="1"/>
          </p:cNvSpPr>
          <p:nvPr/>
        </p:nvSpPr>
        <p:spPr>
          <a:xfrm>
            <a:off x="6515100" y="480060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大型服务买家已采用 OBC
政府新标自 2020 年起要求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2C94BC-E291-41BC-9C8D-C546024628AA}"/>
              </a:ext>
            </a:extLst>
          </p:cNvPr>
          <p:cNvSpPr>
            <a:spLocks noGrp="1"/>
          </p:cNvSpPr>
          <p:nvPr/>
        </p:nvSpPr>
        <p:spPr>
          <a:xfrm>
            <a:off x="9448800" y="424815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≥30%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9808B7-539A-4FF9-972D-F53B33336675}"/>
              </a:ext>
            </a:extLst>
          </p:cNvPr>
          <p:cNvSpPr>
            <a:spLocks noGrp="1"/>
          </p:cNvSpPr>
          <p:nvPr/>
        </p:nvSpPr>
        <p:spPr>
          <a:xfrm>
            <a:off x="9448800" y="4800600"/>
            <a:ext cx="2095500" cy="457200"/>
          </a:xfrm>
          <a:prstGeom prst="rect">
            <a:avLst/>
          </a:prstGeom>
        </p:spPr>
        <p:txBody>
          <a:bodyPr wrap="square" lIns="0" tIns="0" rIns="0" bIns="0" anchor="t">
            <a:normAutofit fontScale="90451"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INCUBATE 多项获支持方案
实现的时间生产率提升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8A3DD6-39FA-4DE9-91DB-3E80E123A782}"/>
              </a:ext>
            </a:extLst>
          </p:cNvPr>
          <p:cNvSpPr>
            <a:spLocks noGrp="1"/>
          </p:cNvSpPr>
          <p:nvPr/>
        </p:nvSpPr>
        <p:spPr>
          <a:xfrm>
            <a:off x="6286500" y="5676900"/>
            <a:ext cx="5505450" cy="514350"/>
          </a:xfrm>
          <a:prstGeom prst="rect">
            <a:avLst/>
          </a:prstGeom>
          <a:solidFill>
            <a:srgbClr val="102335"/>
          </a:solidFill>
          <a:ln w="0">
            <a:solidFill>
              <a:srgbClr val="1023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E1C6C2-B2DB-4710-BB9C-033835F75204}"/>
              </a:ext>
            </a:extLst>
          </p:cNvPr>
          <p:cNvSpPr>
            <a:spLocks noGrp="1"/>
          </p:cNvSpPr>
          <p:nvPr/>
        </p:nvSpPr>
        <p:spPr>
          <a:xfrm>
            <a:off x="6515100" y="5810250"/>
            <a:ext cx="5048250" cy="247650"/>
          </a:xfrm>
          <a:prstGeom prst="rect">
            <a:avLst/>
          </a:prstGeom>
        </p:spPr>
        <p:txBody>
          <a:bodyPr wrap="square" lIns="0" tIns="0" rIns="0" bIns="0" anchor="t">
            <a:normAutofit fontScale="93712"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销售逻辑：证明“可重配工时 + 可审计 SLA”，而不是承诺裁员。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3788E1-21BB-4ECB-A182-4FE17A071BCD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286375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外包商办清洁 PWM 月基本工资（S$）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400050" y="1847850"/>
          <a:ext cx="5410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5921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3D5DE19-851B-48F5-A12F-7B89D7FC9076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 SEGMENTS &amp; BUYERS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CDAE4F-3678-4D6A-9A01-DF89037364B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先打开放、重复地面；采购链由承包商与 FM 牵引</a:t>
            </a:r>
          </a:p>
        </p:txBody>
      </p:sp>
      <p:cxnSp>
        <p:nvCxnSpPr>
          <p:cNvPr id="47" name="直线箭头连接符 46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E5393EB-36B6-4CCC-B31C-D08447347D54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NEA OBC Guide, 3rd ed. (2026); NRP Facilities Management RoboCluster; author synthesis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E98156-5437-4B7B-BE3D-C16E1D48516D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A0B8AE-C2DE-4B1A-ADFB-793181128739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49530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场景优先级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66A37F-9D3F-41CF-A516-E73F90CEB93A}"/>
              </a:ext>
            </a:extLst>
          </p:cNvPr>
          <p:cNvSpPr>
            <a:spLocks noGrp="1"/>
          </p:cNvSpPr>
          <p:nvPr/>
        </p:nvSpPr>
        <p:spPr>
          <a:xfrm>
            <a:off x="419100" y="5924550"/>
            <a:ext cx="2095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动态/复杂度 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D314A6-BF61-4092-AB0C-3E4F96C10CCF}"/>
              </a:ext>
            </a:extLst>
          </p:cNvPr>
          <p:cNvSpPr>
            <a:spLocks noGrp="1"/>
          </p:cNvSpPr>
          <p:nvPr/>
        </p:nvSpPr>
        <p:spPr>
          <a:xfrm>
            <a:off x="3571875" y="5924550"/>
            <a:ext cx="2095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面积与重复度 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35A10A-E5A4-4BCA-BD81-63128B3AF657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2571750" cy="17335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416556-B4C1-48D8-9188-22E95E7D6FBE}"/>
              </a:ext>
            </a:extLst>
          </p:cNvPr>
          <p:cNvSpPr>
            <a:spLocks noGrp="1"/>
          </p:cNvSpPr>
          <p:nvPr/>
        </p:nvSpPr>
        <p:spPr>
          <a:xfrm>
            <a:off x="3067050" y="1981200"/>
            <a:ext cx="2571750" cy="1733550"/>
          </a:xfrm>
          <a:prstGeom prst="rect">
            <a:avLst/>
          </a:prstGeom>
          <a:solidFill>
            <a:srgbClr val="DFF3E9"/>
          </a:solidFill>
          <a:ln w="0">
            <a:solidFill>
              <a:srgbClr val="DFF3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7698D3-3899-4468-8804-587F9B5E46DC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2571750" cy="1733550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6BE9C6-0E1C-4418-9E76-4E58975B2235}"/>
              </a:ext>
            </a:extLst>
          </p:cNvPr>
          <p:cNvSpPr>
            <a:spLocks noGrp="1"/>
          </p:cNvSpPr>
          <p:nvPr/>
        </p:nvSpPr>
        <p:spPr>
          <a:xfrm>
            <a:off x="3067050" y="3810000"/>
            <a:ext cx="2571750" cy="1733550"/>
          </a:xfrm>
          <a:prstGeom prst="rect">
            <a:avLst/>
          </a:prstGeom>
          <a:solidFill>
            <a:srgbClr val="FFF2D8"/>
          </a:solidFill>
          <a:ln w="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4CB1FB-B8F8-4DC4-9E1E-808626F5B951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8763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 先打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917C6C-4CE1-4551-B3E7-04B811B206DF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152650" cy="304800"/>
          </a:xfrm>
          <a:prstGeom prst="rect">
            <a:avLst/>
          </a:prstGeom>
        </p:spPr>
        <p:txBody>
          <a:bodyPr wrap="square" lIns="0" tIns="0" rIns="0" bIns="0" anchor="t">
            <a:normAutofit fontScale="9548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商场 / 机场 / 交通枢纽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204AC6-49B4-4C0D-910A-E573000AB68F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2152650" cy="571500"/>
          </a:xfrm>
          <a:prstGeom prst="rect">
            <a:avLst/>
          </a:prstGeom>
        </p:spPr>
        <p:txBody>
          <a:bodyPr wrap="square" lIns="0" tIns="0" rIns="0" bIns="0" anchor="t">
            <a:normAutofit fontScale="92593" lnSpcReduction="10000"/>
          </a:bodyPr>
          <a:lstStyle/>
          <a:p>
            <a:pPr algn="l">
              <a:defRPr sz="1350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开放地面、夜间窗口、品牌可见
最容易建立标杆案例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25355C-EBDA-42F1-89C4-F0619944A60B}"/>
              </a:ext>
            </a:extLst>
          </p:cNvPr>
          <p:cNvSpPr>
            <a:spLocks noGrp="1"/>
          </p:cNvSpPr>
          <p:nvPr/>
        </p:nvSpPr>
        <p:spPr>
          <a:xfrm>
            <a:off x="3276600" y="2152650"/>
            <a:ext cx="8763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B 放大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F9B33E-ACE0-42C0-800F-848780D5E882}"/>
              </a:ext>
            </a:extLst>
          </p:cNvPr>
          <p:cNvSpPr>
            <a:spLocks noGrp="1"/>
          </p:cNvSpPr>
          <p:nvPr/>
        </p:nvSpPr>
        <p:spPr>
          <a:xfrm>
            <a:off x="3276600" y="2476500"/>
            <a:ext cx="2152650" cy="304800"/>
          </a:xfrm>
          <a:prstGeom prst="rect">
            <a:avLst/>
          </a:prstGeom>
        </p:spPr>
        <p:txBody>
          <a:bodyPr wrap="square" lIns="0" tIns="0" rIns="0" bIns="0" anchor="t">
            <a:normAutofit fontScale="9548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仓库 / 工厂 / 校园园区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5DA6D3-789C-44D8-B622-A87FEBDF9F3E}"/>
              </a:ext>
            </a:extLst>
          </p:cNvPr>
          <p:cNvSpPr>
            <a:spLocks noGrp="1"/>
          </p:cNvSpPr>
          <p:nvPr/>
        </p:nvSpPr>
        <p:spPr>
          <a:xfrm>
            <a:off x="3276600" y="2933700"/>
            <a:ext cx="2152650" cy="571500"/>
          </a:xfrm>
          <a:prstGeom prst="rect">
            <a:avLst/>
          </a:prstGeom>
        </p:spPr>
        <p:txBody>
          <a:bodyPr wrap="square" lIns="0" tIns="0" rIns="0" bIns="0" anchor="t">
            <a:normAutofit fontScale="96736"/>
          </a:bodyPr>
          <a:lstStyle/>
          <a:p>
            <a:pPr algn="l">
              <a:defRPr sz="1350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面积大、任务重复、流线可控
适合车队与跨楼层复制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79B86E-49D2-4F0D-8CF1-7D3DC4535123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1811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C 选择性试点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0D0982-47BF-47AD-BF0E-13045F670650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215265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酒店 / 医疗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83903C-299E-46AA-8272-DFEB4348F927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152650" cy="571500"/>
          </a:xfrm>
          <a:prstGeom prst="rect">
            <a:avLst/>
          </a:prstGeom>
        </p:spPr>
        <p:txBody>
          <a:bodyPr wrap="square" lIns="0" tIns="0" rIns="0" bIns="0" anchor="t">
            <a:normAutofit fontScale="92593" lnSpcReduction="10000"/>
          </a:bodyPr>
          <a:lstStyle/>
          <a:p>
            <a:pPr algn="l">
              <a:defRPr sz="1350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高标准但混合地材、住客/患者干扰多
先做走廊与公共区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E57112-589C-4342-8AFD-6C6B8AB84838}"/>
              </a:ext>
            </a:extLst>
          </p:cNvPr>
          <p:cNvSpPr>
            <a:spLocks noGrp="1"/>
          </p:cNvSpPr>
          <p:nvPr/>
        </p:nvSpPr>
        <p:spPr>
          <a:xfrm>
            <a:off x="3276600" y="3981450"/>
            <a:ext cx="8763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EAAE3B"/>
                </a:solidFill>
                <a:latin typeface="Helvetica Neue"/>
                <a:ea typeface="Helvetica Neue"/>
                <a:cs typeface="Helvetica Neue"/>
              </a:defRPr>
            </a:pPr>
            <a:r>
              <a:t>D 暂缓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F2886C-7560-4309-B089-03160FE65E65}"/>
              </a:ext>
            </a:extLst>
          </p:cNvPr>
          <p:cNvSpPr>
            <a:spLocks noGrp="1"/>
          </p:cNvSpPr>
          <p:nvPr/>
        </p:nvSpPr>
        <p:spPr>
          <a:xfrm>
            <a:off x="3276600" y="4305300"/>
            <a:ext cx="2152650" cy="304800"/>
          </a:xfrm>
          <a:prstGeom prst="rect">
            <a:avLst/>
          </a:prstGeom>
        </p:spPr>
        <p:txBody>
          <a:bodyPr wrap="square" lIns="0" tIns="0" rIns="0" bIns="0" anchor="t">
            <a:normAutofit fontScale="83263" lnSpcReduction="10000"/>
          </a:bodyPr>
          <a:lstStyle/>
          <a:p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F&amp;B / 卫生间 / 零碎空间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4AABFD-D204-4D24-B749-D0CBC69DB380}"/>
              </a:ext>
            </a:extLst>
          </p:cNvPr>
          <p:cNvSpPr>
            <a:spLocks noGrp="1"/>
          </p:cNvSpPr>
          <p:nvPr/>
        </p:nvSpPr>
        <p:spPr>
          <a:xfrm>
            <a:off x="3276600" y="4762500"/>
            <a:ext cx="21526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顽固污渍、杂物与边角多
难以用单台地面机器人闭环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908787-C581-43FD-B810-9C781008DCF7}"/>
              </a:ext>
            </a:extLst>
          </p:cNvPr>
          <p:cNvSpPr>
            <a:spLocks noGrp="1"/>
          </p:cNvSpPr>
          <p:nvPr/>
        </p:nvSpPr>
        <p:spPr>
          <a:xfrm>
            <a:off x="6191250" y="1504950"/>
            <a:ext cx="56007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采购决策链</a:t>
            </a:r>
          </a:p>
        </p:txBody>
      </p:sp>
      <p:cxnSp>
        <p:nvCxnSpPr>
          <p:cNvPr id="70" name="直线箭头连接符 69"/>
          <p:cNvCxnSpPr/>
          <p:nvPr/>
        </p:nvCxnSpPr>
        <p:spPr>
          <a:xfrm>
            <a:off x="6534150" y="2266950"/>
            <a:ext cx="286" cy="314325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D6F0D38-3877-4C1B-BB57-B5C3DC620D4B}"/>
              </a:ext>
            </a:extLst>
          </p:cNvPr>
          <p:cNvSpPr>
            <a:spLocks noGrp="1"/>
          </p:cNvSpPr>
          <p:nvPr/>
        </p:nvSpPr>
        <p:spPr>
          <a:xfrm>
            <a:off x="6381750" y="2171700"/>
            <a:ext cx="304800" cy="304800"/>
          </a:xfrm>
          <a:prstGeom prst="ellipse">
            <a:avLst/>
          </a:prstGeom>
          <a:solidFill>
            <a:srgbClr val="3D8D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948CC40-38F1-45AA-9C3E-B2176FDB69E1}"/>
              </a:ext>
            </a:extLst>
          </p:cNvPr>
          <p:cNvSpPr>
            <a:spLocks noGrp="1"/>
          </p:cNvSpPr>
          <p:nvPr/>
        </p:nvSpPr>
        <p:spPr>
          <a:xfrm>
            <a:off x="6381750" y="3028950"/>
            <a:ext cx="304800" cy="30480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06ED7F2-30E3-45EC-BECF-F73039EB8A45}"/>
              </a:ext>
            </a:extLst>
          </p:cNvPr>
          <p:cNvSpPr>
            <a:spLocks noGrp="1"/>
          </p:cNvSpPr>
          <p:nvPr/>
        </p:nvSpPr>
        <p:spPr>
          <a:xfrm>
            <a:off x="6381750" y="3886200"/>
            <a:ext cx="304800" cy="30480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959EDEB-1642-4394-BD0F-5FDC57EDF78F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304800" cy="304800"/>
          </a:xfrm>
          <a:prstGeom prst="ellipse">
            <a:avLst/>
          </a:prstGeom>
          <a:solidFill>
            <a:srgbClr val="2E9D7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C674650-EC37-414A-AA36-FE506F26891A}"/>
              </a:ext>
            </a:extLst>
          </p:cNvPr>
          <p:cNvSpPr>
            <a:spLocks noGrp="1"/>
          </p:cNvSpPr>
          <p:nvPr/>
        </p:nvSpPr>
        <p:spPr>
          <a:xfrm>
            <a:off x="6457950" y="2219325"/>
            <a:ext cx="15240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DC74BF-4C49-4112-8EDB-014B45B712FD}"/>
              </a:ext>
            </a:extLst>
          </p:cNvPr>
          <p:cNvSpPr>
            <a:spLocks noGrp="1"/>
          </p:cNvSpPr>
          <p:nvPr/>
        </p:nvSpPr>
        <p:spPr>
          <a:xfrm>
            <a:off x="6457950" y="3076575"/>
            <a:ext cx="15240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B67474-23EB-4450-917C-8E5FD8997040}"/>
              </a:ext>
            </a:extLst>
          </p:cNvPr>
          <p:cNvSpPr>
            <a:spLocks noGrp="1"/>
          </p:cNvSpPr>
          <p:nvPr/>
        </p:nvSpPr>
        <p:spPr>
          <a:xfrm>
            <a:off x="6457950" y="3933825"/>
            <a:ext cx="15240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83D5A51-6CD2-4DD4-B2B9-5288A9591A93}"/>
              </a:ext>
            </a:extLst>
          </p:cNvPr>
          <p:cNvSpPr>
            <a:spLocks noGrp="1"/>
          </p:cNvSpPr>
          <p:nvPr/>
        </p:nvSpPr>
        <p:spPr>
          <a:xfrm>
            <a:off x="6457950" y="4791075"/>
            <a:ext cx="15240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F720A2-33C8-4EF8-AB6D-C4322D98BB23}"/>
              </a:ext>
            </a:extLst>
          </p:cNvPr>
          <p:cNvSpPr>
            <a:spLocks noGrp="1"/>
          </p:cNvSpPr>
          <p:nvPr/>
        </p:nvSpPr>
        <p:spPr>
          <a:xfrm>
            <a:off x="6915150" y="207645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业主 / 资产管理方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DA49040-9F38-4453-9EBF-0A5C99F10B56}"/>
              </a:ext>
            </a:extLst>
          </p:cNvPr>
          <p:cNvSpPr>
            <a:spLocks noGrp="1"/>
          </p:cNvSpPr>
          <p:nvPr/>
        </p:nvSpPr>
        <p:spPr>
          <a:xfrm>
            <a:off x="6915150" y="2371725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13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要清洁结果、品牌体验与风险可控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51A3A7B-AB5C-4498-A4F3-CA1361DE5E63}"/>
              </a:ext>
            </a:extLst>
          </p:cNvPr>
          <p:cNvSpPr>
            <a:spLocks noGrp="1"/>
          </p:cNvSpPr>
          <p:nvPr/>
        </p:nvSpPr>
        <p:spPr>
          <a:xfrm>
            <a:off x="6915150" y="293370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FM / 清洁承包商（经济买家）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2182743-8B03-4DA5-8A5C-FEB2DE6A85AC}"/>
              </a:ext>
            </a:extLst>
          </p:cNvPr>
          <p:cNvSpPr>
            <a:spLocks noGrp="1"/>
          </p:cNvSpPr>
          <p:nvPr/>
        </p:nvSpPr>
        <p:spPr>
          <a:xfrm>
            <a:off x="6915150" y="3228975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13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看投标毛利、排班、SLA 与车队利用率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F023A5-B084-43A4-9E45-43D83F0BEF3B}"/>
              </a:ext>
            </a:extLst>
          </p:cNvPr>
          <p:cNvSpPr>
            <a:spLocks noGrp="1"/>
          </p:cNvSpPr>
          <p:nvPr/>
        </p:nvSpPr>
        <p:spPr>
          <a:xfrm>
            <a:off x="6915150" y="379095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运营 / EHS / IT / 采购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8E62D1-FA73-46B8-A5FE-E7FF8B7B8B00}"/>
              </a:ext>
            </a:extLst>
          </p:cNvPr>
          <p:cNvSpPr>
            <a:spLocks noGrp="1"/>
          </p:cNvSpPr>
          <p:nvPr/>
        </p:nvSpPr>
        <p:spPr>
          <a:xfrm>
            <a:off x="6915150" y="4086225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13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验证安全、充电、数据、门禁与电梯集成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C4426E2-171D-47C1-9384-F7B96B4E7090}"/>
              </a:ext>
            </a:extLst>
          </p:cNvPr>
          <p:cNvSpPr>
            <a:spLocks noGrp="1"/>
          </p:cNvSpPr>
          <p:nvPr/>
        </p:nvSpPr>
        <p:spPr>
          <a:xfrm>
            <a:off x="6915150" y="464820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主管与一线操作员（采用者）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2800648-7945-45CE-8A04-ECD63E4E22A9}"/>
              </a:ext>
            </a:extLst>
          </p:cNvPr>
          <p:cNvSpPr>
            <a:spLocks noGrp="1"/>
          </p:cNvSpPr>
          <p:nvPr/>
        </p:nvSpPr>
        <p:spPr>
          <a:xfrm>
            <a:off x="6915150" y="4943475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13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关心易用性、异常恢复与日常维护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4714E2B-02BA-43D0-9D57-AA4F4ED39F20}"/>
              </a:ext>
            </a:extLst>
          </p:cNvPr>
          <p:cNvSpPr>
            <a:spLocks noGrp="1"/>
          </p:cNvSpPr>
          <p:nvPr/>
        </p:nvSpPr>
        <p:spPr>
          <a:xfrm>
            <a:off x="6191250" y="5581650"/>
            <a:ext cx="5600700" cy="571500"/>
          </a:xfrm>
          <a:prstGeom prst="rect">
            <a:avLst/>
          </a:prstGeom>
          <a:solidFill>
            <a:srgbClr val="102335"/>
          </a:solidFill>
          <a:ln w="0">
            <a:solidFill>
              <a:srgbClr val="1023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3F5D428-C6BA-44FB-B7EB-5935BB3971AF}"/>
              </a:ext>
            </a:extLst>
          </p:cNvPr>
          <p:cNvSpPr>
            <a:spLocks noGrp="1"/>
          </p:cNvSpPr>
          <p:nvPr/>
        </p:nvSpPr>
        <p:spPr>
          <a:xfrm>
            <a:off x="6419850" y="5753100"/>
            <a:ext cx="5143500" cy="266700"/>
          </a:xfrm>
          <a:prstGeom prst="rect">
            <a:avLst/>
          </a:prstGeom>
        </p:spPr>
        <p:txBody>
          <a:bodyPr wrap="square" lIns="0" tIns="0" rIns="0" bIns="0" anchor="t">
            <a:normAutofit fontScale="66461" lnSpcReduction="20000"/>
          </a:bodyPr>
          <a:lstStyle/>
          <a:p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采购排序：自主完成率 ＞ 本地服务 SLA ＞ 干燥/安全 ＞ 报表 ＞ 3 年 TCO ＞ 楼宇集成</a:t>
            </a:r>
          </a:p>
        </p:txBody>
      </p:sp>
    </p:spTree>
    <p:extLst>
      <p:ext uri="{BB962C8B-B14F-4D97-AF65-F5344CB8AC3E}">
        <p14:creationId xmlns:p14="http://schemas.microsoft.com/office/powerpoint/2010/main" val="91732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5F93D6B-F3C3-4EE3-85C2-23B6CB6EEC21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  COMPETITIVE LANDSCAPE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D2F30E-9749-4E80-95F1-2BA2F2950FE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六类玩家已齐：本地服务、算法与设备可靠性三路竞争</a:t>
            </a:r>
          </a:p>
        </p:txBody>
      </p:sp>
      <p:cxnSp>
        <p:nvCxnSpPr>
          <p:cNvPr id="10" name="直线箭头连接符 9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DC01F1E-9D6E-46AC-B170-7FA290144C47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official vendor product pages/spec sheets, accessed 24 Jul 2026. Metrics are not directly comparable.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681E79-5D3E-49AE-80C3-24A15332EE04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F1B55-C3D9-4894-A5B0-10AAD19E7720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同一“效率”口径可能是实际、理论、每箱覆盖或点清洁速度；最终选型必须在真实场地按同一 KPI 试跑。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400050" y="1943100"/>
          <a:ext cx="11391900" cy="4318635"/>
        </p:xfrm>
        <a:graphic>
          <a:graphicData uri="http://schemas.openxmlformats.org/drawingml/2006/table">
            <a:tbl>
              <a:tblPr firstRow="1"/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品牌 / 产品</a:t>
                      </a:r>
                    </a:p>
                  </a:txBody>
                  <a:tcPr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最适场景</a:t>
                      </a:r>
                    </a:p>
                  </a:txBody>
                  <a:tcPr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官方产品证据</a:t>
                      </a:r>
                    </a:p>
                  </a:txBody>
                  <a:tcPr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新加坡抓手</a:t>
                      </a:r>
                    </a:p>
                  </a:txBody>
                  <a:tcPr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销售提醒</a:t>
                      </a:r>
                    </a:p>
                  </a:txBody>
                  <a:tcPr>
                    <a:solidFill>
                      <a:srgbClr val="1023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LionsBot</a:t>
                      </a:r>
                    </a:p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R3 Scrub Pro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商场 / 机场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医疗公共区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800–1,200 m²/h（实际）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21/24 L；可选补给站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新加坡制造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本地案例与服务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用本地响应与一线易用性取胜；需用新型号重算 ROI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Gausium</a:t>
                      </a:r>
                    </a:p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Phantas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零售 / 酒店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窄通道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4 合 1；350–700 m²/h（实际）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600 mm 通道；0 mm 贴边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Changi 类场景背书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紧凑机型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强调边角与混合地材；签约前锁定渠道服务 SLA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PUDU</a:t>
                      </a:r>
                    </a:p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CC1 Pro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办公 / 零售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混合地材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4 合 1；700–1,000 m²/h（全覆盖）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AI 污渍识别；可选工作站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本地经销商网络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交互与功能整合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用低门槛试点切入；关注产品迭代、配件与交付一致性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Avidbots</a:t>
                      </a:r>
                    </a:p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Neo 2W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机场 / 轨交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仓储工业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2,950–3,941 m²/h（理论）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最长 6 h；强报表/远程支持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Changi 与 SMRT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大型场景证据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强自主与可测量清洁；机身、通道和总拥有成本更高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Tennant</a:t>
                      </a:r>
                    </a:p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X4 ROVR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零售 / 医疗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教育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500 mm 路径；38/38 L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2.5 h；1,860 m²/箱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传统设备客户基础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生命周期服务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以可靠清洁与售后降低风险；核验本地机器人支持覆盖</a:t>
                      </a:r>
                    </a:p>
                  </a:txBody>
                  <a:tcPr>
                    <a:solidFill>
                      <a:srgbClr val="EA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Kärcher</a:t>
                      </a:r>
                    </a:p>
                    <a:p>
                      <a:r>
                        <a:rPr sz="1350" b="1">
                          <a:solidFill>
                            <a:srgbClr val="3D8DFF"/>
                          </a:solidFill>
                        </a:rPr>
                        <a:t>KIRA B 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仓库 / 大零售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大型公共区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2,365 m²/h（理论）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55/55 L；全自动工作站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新加坡授权渠道</a:t>
                      </a:r>
                    </a:p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设备服务能力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适合大面积；0.9 m 最小通道与较大机身限制窄场景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86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52A6A38-B364-4DCB-97AA-D973710B7A0A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  COMMERCIALISATION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E83ADE-BBBF-4C96-AE1A-61E179EEEDD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产品之外，三种商业化模式决定成交速度</a:t>
            </a:r>
          </a:p>
        </p:txBody>
      </p:sp>
      <p:cxnSp>
        <p:nvCxnSpPr>
          <p:cNvPr id="26" name="直线箭头连接符 25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1B73F56-F4F8-4511-8057-E1FC90B06B91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NEA OBC Guide (2026); IMDA AMR; author recommendation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EBB759-F15B-4326-A374-A2A0B54E2EB2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62D771-5357-4CCE-8815-B43C3FF31283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共同卖点必须落在五件事：自主完成率、清洁/干燥质量、异常恢复、本地服务 SLA、可审计报表。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FB7C65A-FD8C-48D7-8EF2-0CF748908B4A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A81D55C-D1F4-4957-831B-B90C53629672}"/>
              </a:ext>
            </a:extLst>
          </p:cNvPr>
          <p:cNvSpPr>
            <a:spLocks noGrp="1"/>
          </p:cNvSpPr>
          <p:nvPr/>
        </p:nvSpPr>
        <p:spPr>
          <a:xfrm>
            <a:off x="4333875" y="20764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FDE5B5F-6696-43D6-916C-44E955BC8802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46F565-43F1-40DB-B10F-26CC9DDF80D1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30670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设备买断 + 维保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2424BE-FB98-4998-9BE3-9D6D4365B682}"/>
              </a:ext>
            </a:extLst>
          </p:cNvPr>
          <p:cNvSpPr>
            <a:spLocks noGrp="1"/>
          </p:cNvSpPr>
          <p:nvPr/>
        </p:nvSpPr>
        <p:spPr>
          <a:xfrm>
            <a:off x="628650" y="2876550"/>
            <a:ext cx="306705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3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适合
政府/业主、预算明确、利用率稳定
成交证据
3 年 TCO、保修、备件与残值
主要阻力
预算周期长；买家承担闲置与技术迭代风险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0006B1-850D-4A44-A423-40312AD331E2}"/>
              </a:ext>
            </a:extLst>
          </p:cNvPr>
          <p:cNvSpPr>
            <a:spLocks noGrp="1"/>
          </p:cNvSpPr>
          <p:nvPr/>
        </p:nvSpPr>
        <p:spPr>
          <a:xfrm>
            <a:off x="4562475" y="2324100"/>
            <a:ext cx="30670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  RaaS 租赁 / 订阅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E69BAD-96C9-4DBC-91B5-BD754DBE99CF}"/>
              </a:ext>
            </a:extLst>
          </p:cNvPr>
          <p:cNvSpPr>
            <a:spLocks noGrp="1"/>
          </p:cNvSpPr>
          <p:nvPr/>
        </p:nvSpPr>
        <p:spPr>
          <a:xfrm>
            <a:off x="4562475" y="2876550"/>
            <a:ext cx="306705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3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适合
清洁承包商、中型场地、需快速上线
成交证据
月费 vs. 可重配工时；可用率与响应 SLA
主要阻力
厂商融资、残值管理与持续服务能力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DAD6F3-E96F-443A-BFF8-F0F7FFC0D8A1}"/>
              </a:ext>
            </a:extLst>
          </p:cNvPr>
          <p:cNvSpPr>
            <a:spLocks noGrp="1"/>
          </p:cNvSpPr>
          <p:nvPr/>
        </p:nvSpPr>
        <p:spPr>
          <a:xfrm>
            <a:off x="8496300" y="2324100"/>
            <a:ext cx="30670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 OBC 清洁服务打包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32D2A9-78AE-4DD8-802D-E1E0F39B6D79}"/>
              </a:ext>
            </a:extLst>
          </p:cNvPr>
          <p:cNvSpPr>
            <a:spLocks noGrp="1"/>
          </p:cNvSpPr>
          <p:nvPr/>
        </p:nvSpPr>
        <p:spPr>
          <a:xfrm>
            <a:off x="8496300" y="2876550"/>
            <a:ext cx="306705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3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适合
商场/酒店组合、多站点资产组合
成交证据
清洁 KPI、响应时间、覆盖率与报告
主要阻力
数据集成、归责与合同 KPI 设计复杂</a:t>
            </a:r>
          </a:p>
        </p:txBody>
      </p:sp>
      <p:cxnSp>
        <p:nvCxnSpPr>
          <p:cNvPr id="39" name="直线箭头连接符 38"/>
          <p:cNvCxnSpPr/>
          <p:nvPr/>
        </p:nvCxnSpPr>
        <p:spPr>
          <a:xfrm>
            <a:off x="1714500" y="5857875"/>
            <a:ext cx="8763000" cy="286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CA303BB3-DA20-43E9-B092-0952E320C104}"/>
              </a:ext>
            </a:extLst>
          </p:cNvPr>
          <p:cNvSpPr>
            <a:spLocks noGrp="1"/>
          </p:cNvSpPr>
          <p:nvPr/>
        </p:nvSpPr>
        <p:spPr>
          <a:xfrm>
            <a:off x="1619250" y="5762625"/>
            <a:ext cx="190500" cy="19050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83EE170-2A63-423B-8DF6-49CECA47706E}"/>
              </a:ext>
            </a:extLst>
          </p:cNvPr>
          <p:cNvSpPr>
            <a:spLocks noGrp="1"/>
          </p:cNvSpPr>
          <p:nvPr/>
        </p:nvSpPr>
        <p:spPr>
          <a:xfrm>
            <a:off x="5905500" y="5762625"/>
            <a:ext cx="190500" cy="190500"/>
          </a:xfrm>
          <a:prstGeom prst="ellipse">
            <a:avLst/>
          </a:prstGeom>
          <a:solidFill>
            <a:srgbClr val="3D8D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4AA1D1A-2AD2-4D1C-B579-D106C1565700}"/>
              </a:ext>
            </a:extLst>
          </p:cNvPr>
          <p:cNvSpPr>
            <a:spLocks noGrp="1"/>
          </p:cNvSpPr>
          <p:nvPr/>
        </p:nvSpPr>
        <p:spPr>
          <a:xfrm>
            <a:off x="10382250" y="5762625"/>
            <a:ext cx="190500" cy="190500"/>
          </a:xfrm>
          <a:prstGeom prst="ellipse">
            <a:avLst/>
          </a:prstGeom>
          <a:solidFill>
            <a:srgbClr val="2E9D7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62B490-135B-44E6-9C95-2045BA42A480}"/>
              </a:ext>
            </a:extLst>
          </p:cNvPr>
          <p:cNvSpPr>
            <a:spLocks noGrp="1"/>
          </p:cNvSpPr>
          <p:nvPr/>
        </p:nvSpPr>
        <p:spPr>
          <a:xfrm>
            <a:off x="628650" y="5429250"/>
            <a:ext cx="203835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周场景试点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5CAB4B-4E70-4ABA-A4A7-458373060DC8}"/>
              </a:ext>
            </a:extLst>
          </p:cNvPr>
          <p:cNvSpPr>
            <a:spLocks noGrp="1"/>
          </p:cNvSpPr>
          <p:nvPr/>
        </p:nvSpPr>
        <p:spPr>
          <a:xfrm>
            <a:off x="4933950" y="5429250"/>
            <a:ext cx="203835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12 个月 RaaS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535104-4778-4E5F-B970-814CCDAD2CF2}"/>
              </a:ext>
            </a:extLst>
          </p:cNvPr>
          <p:cNvSpPr>
            <a:spLocks noGrp="1"/>
          </p:cNvSpPr>
          <p:nvPr/>
        </p:nvSpPr>
        <p:spPr>
          <a:xfrm>
            <a:off x="9429750" y="5429250"/>
            <a:ext cx="203835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多站点 OBC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13CDD7-D22F-4CF7-8C60-53F1248AAF1B}"/>
              </a:ext>
            </a:extLst>
          </p:cNvPr>
          <p:cNvSpPr>
            <a:spLocks noGrp="1"/>
          </p:cNvSpPr>
          <p:nvPr/>
        </p:nvSpPr>
        <p:spPr>
          <a:xfrm>
            <a:off x="2095500" y="5981700"/>
            <a:ext cx="8001000" cy="285750"/>
          </a:xfrm>
          <a:prstGeom prst="rect">
            <a:avLst/>
          </a:prstGeom>
        </p:spPr>
        <p:txBody>
          <a:bodyPr wrap="square" lIns="0" tIns="0" rIns="0" bIns="0" anchor="t">
            <a:normAutofit fontScale="90437"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推荐的新加坡进入路径：先把风险装进试点，再把现金流装进 RaaS，最后把规模装进结果合同。</a:t>
            </a:r>
          </a:p>
        </p:txBody>
      </p:sp>
    </p:spTree>
    <p:extLst>
      <p:ext uri="{BB962C8B-B14F-4D97-AF65-F5344CB8AC3E}">
        <p14:creationId xmlns:p14="http://schemas.microsoft.com/office/powerpoint/2010/main" val="70723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79606AA-1BBF-4F21-A81F-AAD89F5298EE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06  OBJECTIONS &amp; FAQ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8439BA-9F74-42C0-B8B0-EC09431EFE7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销售 FAQ：六个问题决定机器人能否成交</a:t>
            </a:r>
          </a:p>
        </p:txBody>
      </p:sp>
      <p:cxnSp>
        <p:nvCxnSpPr>
          <p:cNvPr id="28" name="直线箭头连接符 27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FA14792-407A-40EB-9FCA-580266F8D122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NEA OBC Guide (2026); Reddit SG (2023–24; qualitative only)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55587C-F1D5-40A7-9A69-F72A4907DF5B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3D5EE1-56B6-49E4-996C-E2194D7511DE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5524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5A82D0-0510-4B54-80C6-A356E82361D7}"/>
              </a:ext>
            </a:extLst>
          </p:cNvPr>
          <p:cNvSpPr>
            <a:spLocks noGrp="1"/>
          </p:cNvSpPr>
          <p:nvPr/>
        </p:nvSpPr>
        <p:spPr>
          <a:xfrm>
            <a:off x="590550" y="1581150"/>
            <a:ext cx="110109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63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Reddit 的反复质疑集中在三点：机器人仍需旁站、维护责任不清、补贴试点后无法持续。销售必须用试点数据逐一回答。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DC4983-56A3-49E7-BAA4-A61A7C3993AA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11391900" cy="609600"/>
          </a:xfrm>
          <a:prstGeom prst="rect">
            <a:avLst/>
          </a:prstGeom>
          <a:solidFill>
            <a:srgbClr val="F2F2F2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258BEE-B0B5-4803-811F-3A9BB5561048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2524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还要人一直看着？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F8124D-4E37-4DBF-B332-36474E4963E9}"/>
              </a:ext>
            </a:extLst>
          </p:cNvPr>
          <p:cNvSpPr>
            <a:spLocks noGrp="1"/>
          </p:cNvSpPr>
          <p:nvPr/>
        </p:nvSpPr>
        <p:spPr>
          <a:xfrm>
            <a:off x="3333750" y="2247900"/>
            <a:ext cx="8191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试点记录每 1,000 m² 人工介入次数、自动恢复率与远程恢复时长；目标是“一人管多机”，不是零人。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B2D6EA-F460-4A6A-9E48-01EFD4F45512}"/>
              </a:ext>
            </a:extLst>
          </p:cNvPr>
          <p:cNvSpPr>
            <a:spLocks noGrp="1"/>
          </p:cNvSpPr>
          <p:nvPr/>
        </p:nvSpPr>
        <p:spPr>
          <a:xfrm>
            <a:off x="400050" y="2809875"/>
            <a:ext cx="11391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700086-F077-4AC0-8137-312F4FBBB8F8}"/>
              </a:ext>
            </a:extLst>
          </p:cNvPr>
          <p:cNvSpPr>
            <a:spLocks noGrp="1"/>
          </p:cNvSpPr>
          <p:nvPr/>
        </p:nvSpPr>
        <p:spPr>
          <a:xfrm>
            <a:off x="571500" y="2981325"/>
            <a:ext cx="2524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人多、摊位多会卡？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E781CC-B85F-4A45-B0D7-DD85EDD1B940}"/>
              </a:ext>
            </a:extLst>
          </p:cNvPr>
          <p:cNvSpPr>
            <a:spLocks noGrp="1"/>
          </p:cNvSpPr>
          <p:nvPr/>
        </p:nvSpPr>
        <p:spPr>
          <a:xfrm>
            <a:off x="3333750" y="2924175"/>
            <a:ext cx="8191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先跑非高峰，设置禁行区；把动态人流、窄通道、临时陈列与电梯作为验收脚本，而非演示时回避。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32AB68-BC4B-4B95-9376-07BD20387CE0}"/>
              </a:ext>
            </a:extLst>
          </p:cNvPr>
          <p:cNvSpPr>
            <a:spLocks noGrp="1"/>
          </p:cNvSpPr>
          <p:nvPr/>
        </p:nvSpPr>
        <p:spPr>
          <a:xfrm>
            <a:off x="400050" y="3486150"/>
            <a:ext cx="11391900" cy="609600"/>
          </a:xfrm>
          <a:prstGeom prst="rect">
            <a:avLst/>
          </a:prstGeom>
          <a:solidFill>
            <a:srgbClr val="F2F2F2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6DE2A2-0091-4251-B5AE-96CB6B7497D3}"/>
              </a:ext>
            </a:extLst>
          </p:cNvPr>
          <p:cNvSpPr>
            <a:spLocks noGrp="1"/>
          </p:cNvSpPr>
          <p:nvPr/>
        </p:nvSpPr>
        <p:spPr>
          <a:xfrm>
            <a:off x="571500" y="3657600"/>
            <a:ext cx="2524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坏了谁负责？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F8C155-14C0-4B05-90D9-5C591877F3D4}"/>
              </a:ext>
            </a:extLst>
          </p:cNvPr>
          <p:cNvSpPr>
            <a:spLocks noGrp="1"/>
          </p:cNvSpPr>
          <p:nvPr/>
        </p:nvSpPr>
        <p:spPr>
          <a:xfrm>
            <a:off x="3333750" y="3600450"/>
            <a:ext cx="8191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合同写明本地响应时间、关键备件/备用机、预防性维护与软件支持期限；停机成本进入 TCO。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040319-FFAA-4C9F-BA3C-9AFB63B46791}"/>
              </a:ext>
            </a:extLst>
          </p:cNvPr>
          <p:cNvSpPr>
            <a:spLocks noGrp="1"/>
          </p:cNvSpPr>
          <p:nvPr/>
        </p:nvSpPr>
        <p:spPr>
          <a:xfrm>
            <a:off x="400050" y="4162425"/>
            <a:ext cx="11391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6A4AA3-EC99-45A8-B8BC-90E1845D7C1F}"/>
              </a:ext>
            </a:extLst>
          </p:cNvPr>
          <p:cNvSpPr>
            <a:spLocks noGrp="1"/>
          </p:cNvSpPr>
          <p:nvPr/>
        </p:nvSpPr>
        <p:spPr>
          <a:xfrm>
            <a:off x="571500" y="4333875"/>
            <a:ext cx="2524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清洁质量怎么验？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668032-6550-4085-8B58-9B52A4A4C55D}"/>
              </a:ext>
            </a:extLst>
          </p:cNvPr>
          <p:cNvSpPr>
            <a:spLocks noGrp="1"/>
          </p:cNvSpPr>
          <p:nvPr/>
        </p:nvSpPr>
        <p:spPr>
          <a:xfrm>
            <a:off x="3333750" y="4276725"/>
            <a:ext cx="8191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同一区域对比覆盖完成率、一次通过率、地面干燥度、返工与投诉；自动报表必须能被客户审计。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FBD33B-9C9C-4E22-BB46-2BD202207343}"/>
              </a:ext>
            </a:extLst>
          </p:cNvPr>
          <p:cNvSpPr>
            <a:spLocks noGrp="1"/>
          </p:cNvSpPr>
          <p:nvPr/>
        </p:nvSpPr>
        <p:spPr>
          <a:xfrm>
            <a:off x="400050" y="4838700"/>
            <a:ext cx="11391900" cy="609600"/>
          </a:xfrm>
          <a:prstGeom prst="rect">
            <a:avLst/>
          </a:prstGeom>
          <a:solidFill>
            <a:srgbClr val="F2F2F2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FA0CD2-07B2-4C24-A6CF-2714B708C16C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2524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安全、隐私怎么过？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0C8E49-B3BA-4C37-8B18-C381C396D95B}"/>
              </a:ext>
            </a:extLst>
          </p:cNvPr>
          <p:cNvSpPr>
            <a:spLocks noGrp="1"/>
          </p:cNvSpPr>
          <p:nvPr/>
        </p:nvSpPr>
        <p:spPr>
          <a:xfrm>
            <a:off x="3333750" y="4953000"/>
            <a:ext cx="8191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评估电池与充电区、急停/碰撞、摄像数据留存、远程访问权限与事故 SOP；由 EHS/IT 共同签字。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7700B0-0869-4A3F-810E-20A8A19EFF87}"/>
              </a:ext>
            </a:extLst>
          </p:cNvPr>
          <p:cNvSpPr>
            <a:spLocks noGrp="1"/>
          </p:cNvSpPr>
          <p:nvPr/>
        </p:nvSpPr>
        <p:spPr>
          <a:xfrm>
            <a:off x="400050" y="5514975"/>
            <a:ext cx="113919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0044DD-30AE-4FF8-8276-81DCC18FF761}"/>
              </a:ext>
            </a:extLst>
          </p:cNvPr>
          <p:cNvSpPr>
            <a:spLocks noGrp="1"/>
          </p:cNvSpPr>
          <p:nvPr/>
        </p:nvSpPr>
        <p:spPr>
          <a:xfrm>
            <a:off x="571500" y="5686425"/>
            <a:ext cx="2524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太贵，多久回本？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9C21C1-7B88-4E1A-A7DA-22978EE1AB88}"/>
              </a:ext>
            </a:extLst>
          </p:cNvPr>
          <p:cNvSpPr>
            <a:spLocks noGrp="1"/>
          </p:cNvSpPr>
          <p:nvPr/>
        </p:nvSpPr>
        <p:spPr>
          <a:xfrm>
            <a:off x="3333750" y="5629275"/>
            <a:ext cx="8191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用 3 年总拥有成本对比可重配工时、加班、招工空缺与 SLA 罚则；对现金敏感客户以 RaaS 降低首付。</a:t>
            </a:r>
          </a:p>
        </p:txBody>
      </p:sp>
    </p:spTree>
    <p:extLst>
      <p:ext uri="{BB962C8B-B14F-4D97-AF65-F5344CB8AC3E}">
        <p14:creationId xmlns:p14="http://schemas.microsoft.com/office/powerpoint/2010/main" val="205729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DA2CE52-FCAD-4D40-8169-DF27FB6D1F00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07  CASE &amp; SEA PLAYBOOK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8CD526-692B-404C-B9FC-01584948A32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96625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真实案例：2 台机器人跑通商场，再复制到东南亚</a:t>
            </a:r>
          </a:p>
        </p:txBody>
      </p:sp>
      <p:cxnSp>
        <p:nvCxnSpPr>
          <p:cNvPr id="34" name="直线箭头连接符 33"/>
          <p:cNvCxnSpPr/>
          <p:nvPr/>
        </p:nvCxnSpPr>
        <p:spPr>
          <a:xfrm>
            <a:off x="400050" y="1295400"/>
            <a:ext cx="1139190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D5C4639-B088-4385-80CE-BA48008D2EC7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0382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788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LionsBot / Eng Leng Contractors case study, Ngee Ann City (vendor-published, Jun 2021)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8F82CA-DB34-4BD1-8EFD-2849F8F55D7A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5334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03F505-79C6-4F14-A4AF-89993480B933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5143500" cy="3733800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1BDE59-AA5E-4BC0-82C6-F039778CE445}"/>
              </a:ext>
            </a:extLst>
          </p:cNvPr>
          <p:cNvSpPr>
            <a:spLocks noGrp="1"/>
          </p:cNvSpPr>
          <p:nvPr/>
        </p:nvSpPr>
        <p:spPr>
          <a:xfrm>
            <a:off x="5905500" y="1466850"/>
            <a:ext cx="561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Ngee Ann City · Eng Leng Contractors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5D11DD-1FEB-411D-B066-E4E488741244}"/>
              </a:ext>
            </a:extLst>
          </p:cNvPr>
          <p:cNvSpPr>
            <a:spLocks noGrp="1"/>
          </p:cNvSpPr>
          <p:nvPr/>
        </p:nvSpPr>
        <p:spPr>
          <a:xfrm>
            <a:off x="5905500" y="1905000"/>
            <a:ext cx="561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大型开放商场先验证路线与人机协作，再将“报告透明度”变成续约与扩点证据。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B6E98E7-A75D-47C9-AE7B-1E5561580085}"/>
              </a:ext>
            </a:extLst>
          </p:cNvPr>
          <p:cNvSpPr>
            <a:spLocks noGrp="1"/>
          </p:cNvSpPr>
          <p:nvPr/>
        </p:nvSpPr>
        <p:spPr>
          <a:xfrm>
            <a:off x="5905500" y="26098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8026663-C20B-452A-AB3A-AF421D521F0F}"/>
              </a:ext>
            </a:extLst>
          </p:cNvPr>
          <p:cNvSpPr>
            <a:spLocks noGrp="1"/>
          </p:cNvSpPr>
          <p:nvPr/>
        </p:nvSpPr>
        <p:spPr>
          <a:xfrm>
            <a:off x="7829550" y="26098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54302E2-A5C5-4568-BC29-73544AB3506C}"/>
              </a:ext>
            </a:extLst>
          </p:cNvPr>
          <p:cNvSpPr>
            <a:spLocks noGrp="1"/>
          </p:cNvSpPr>
          <p:nvPr/>
        </p:nvSpPr>
        <p:spPr>
          <a:xfrm>
            <a:off x="9753600" y="26098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407E45-8F6F-44F9-B0F2-52531D0A4699}"/>
              </a:ext>
            </a:extLst>
          </p:cNvPr>
          <p:cNvSpPr>
            <a:spLocks noGrp="1"/>
          </p:cNvSpPr>
          <p:nvPr/>
        </p:nvSpPr>
        <p:spPr>
          <a:xfrm>
            <a:off x="6115050" y="2743200"/>
            <a:ext cx="12954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 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166DF1-66B8-4126-8A78-053066245DFE}"/>
              </a:ext>
            </a:extLst>
          </p:cNvPr>
          <p:cNvSpPr>
            <a:spLocks noGrp="1"/>
          </p:cNvSpPr>
          <p:nvPr/>
        </p:nvSpPr>
        <p:spPr>
          <a:xfrm>
            <a:off x="6115050" y="3200400"/>
            <a:ext cx="1295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LeoScrub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1A0082-9179-40ED-A455-4E9CDCC226F3}"/>
              </a:ext>
            </a:extLst>
          </p:cNvPr>
          <p:cNvSpPr>
            <a:spLocks noGrp="1"/>
          </p:cNvSpPr>
          <p:nvPr/>
        </p:nvSpPr>
        <p:spPr>
          <a:xfrm>
            <a:off x="8039100" y="2743200"/>
            <a:ext cx="12954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9548BD-4270-4B33-A4EA-0711B27BD528}"/>
              </a:ext>
            </a:extLst>
          </p:cNvPr>
          <p:cNvSpPr>
            <a:spLocks noGrp="1"/>
          </p:cNvSpPr>
          <p:nvPr/>
        </p:nvSpPr>
        <p:spPr>
          <a:xfrm>
            <a:off x="8039100" y="3200400"/>
            <a:ext cx="1295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部署与培训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F92C11-2800-492D-BF3B-506FE23776EA}"/>
              </a:ext>
            </a:extLst>
          </p:cNvPr>
          <p:cNvSpPr>
            <a:spLocks noGrp="1"/>
          </p:cNvSpPr>
          <p:nvPr/>
        </p:nvSpPr>
        <p:spPr>
          <a:xfrm>
            <a:off x="9963150" y="2743200"/>
            <a:ext cx="12954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325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6 小时/天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D13809-A89B-4D9A-8D58-5EE126E87053}"/>
              </a:ext>
            </a:extLst>
          </p:cNvPr>
          <p:cNvSpPr>
            <a:spLocks noGrp="1"/>
          </p:cNvSpPr>
          <p:nvPr/>
        </p:nvSpPr>
        <p:spPr>
          <a:xfrm>
            <a:off x="9963150" y="3200400"/>
            <a:ext cx="1295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D6872"/>
                </a:solidFill>
                <a:latin typeface="Helvetica Neue"/>
                <a:ea typeface="Helvetica Neue"/>
                <a:cs typeface="Helvetica Neue"/>
              </a:defRPr>
            </a:pPr>
            <a:r>
              <a:t>报告节省工时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2977D7-9796-4AAE-A9F2-056964837DBB}"/>
              </a:ext>
            </a:extLst>
          </p:cNvPr>
          <p:cNvSpPr>
            <a:spLocks noGrp="1"/>
          </p:cNvSpPr>
          <p:nvPr/>
        </p:nvSpPr>
        <p:spPr>
          <a:xfrm>
            <a:off x="5905500" y="3810000"/>
            <a:ext cx="5562600" cy="971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• 路线和排班与商场人流共同优化
• App 监控与清洁报告提升客户透明度
• 员工把时间转向其他清洁任务
• 结果来自厂商案例，需独立试点复核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A48A82-0F7E-4085-BFAF-46AD150463F8}"/>
              </a:ext>
            </a:extLst>
          </p:cNvPr>
          <p:cNvSpPr>
            <a:spLocks noGrp="1"/>
          </p:cNvSpPr>
          <p:nvPr/>
        </p:nvSpPr>
        <p:spPr>
          <a:xfrm>
            <a:off x="5905500" y="4876800"/>
            <a:ext cx="5562600" cy="361950"/>
          </a:xfrm>
          <a:prstGeom prst="rect">
            <a:avLst/>
          </a:prstGeom>
          <a:solidFill>
            <a:srgbClr val="102335"/>
          </a:solidFill>
          <a:ln w="0">
            <a:solidFill>
              <a:srgbClr val="1023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E9EFD89-1626-4460-8113-813BAD04C81C}"/>
              </a:ext>
            </a:extLst>
          </p:cNvPr>
          <p:cNvSpPr>
            <a:spLocks noGrp="1"/>
          </p:cNvSpPr>
          <p:nvPr/>
        </p:nvSpPr>
        <p:spPr>
          <a:xfrm>
            <a:off x="6076950" y="4962525"/>
            <a:ext cx="5219700" cy="209550"/>
          </a:xfrm>
          <a:prstGeom prst="rect">
            <a:avLst/>
          </a:prstGeom>
        </p:spPr>
        <p:txBody>
          <a:bodyPr wrap="square" lIns="0" tIns="0" rIns="0" bIns="0" anchor="t">
            <a:normAutofit fontScale="99462"/>
          </a:bodyPr>
          <a:lstStyle/>
          <a:p>
            <a:pPr algn="ctr">
              <a:defRPr sz="131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不要只出口硬件；要出口“场勘—KPI—培训—备件—报告”的交付方法。</a:t>
            </a:r>
          </a:p>
        </p:txBody>
      </p:sp>
      <p:cxnSp>
        <p:nvCxnSpPr>
          <p:cNvPr id="52" name="直线箭头连接符 51"/>
          <p:cNvCxnSpPr/>
          <p:nvPr/>
        </p:nvCxnSpPr>
        <p:spPr>
          <a:xfrm>
            <a:off x="1676400" y="5753100"/>
            <a:ext cx="8858250" cy="286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36098AC2-241B-4EFF-9999-94230D5E97B0}"/>
              </a:ext>
            </a:extLst>
          </p:cNvPr>
          <p:cNvSpPr>
            <a:spLocks noGrp="1"/>
          </p:cNvSpPr>
          <p:nvPr/>
        </p:nvSpPr>
        <p:spPr>
          <a:xfrm>
            <a:off x="1581150" y="5657850"/>
            <a:ext cx="190500" cy="190500"/>
          </a:xfrm>
          <a:prstGeom prst="ellipse">
            <a:avLst/>
          </a:prstGeom>
          <a:solidFill>
            <a:srgbClr val="3D8D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294642-16FE-44D3-9E38-79E3CB355BAD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190500" cy="190500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415E482-8094-41E0-A1C2-343CFE1E47D8}"/>
              </a:ext>
            </a:extLst>
          </p:cNvPr>
          <p:cNvSpPr>
            <a:spLocks noGrp="1"/>
          </p:cNvSpPr>
          <p:nvPr/>
        </p:nvSpPr>
        <p:spPr>
          <a:xfrm>
            <a:off x="10439400" y="5657850"/>
            <a:ext cx="190500" cy="190500"/>
          </a:xfrm>
          <a:prstGeom prst="ellipse">
            <a:avLst/>
          </a:prstGeom>
          <a:solidFill>
            <a:srgbClr val="2E9D7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9EC608E-E0BE-499B-B7E5-A519B3CBBEA7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203835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新加坡：灯塔案例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A01041-F5CB-4FE2-8724-2B16CB0DB66A}"/>
              </a:ext>
            </a:extLst>
          </p:cNvPr>
          <p:cNvSpPr>
            <a:spLocks noGrp="1"/>
          </p:cNvSpPr>
          <p:nvPr/>
        </p:nvSpPr>
        <p:spPr>
          <a:xfrm>
            <a:off x="552450" y="5924550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 fontScale="95921" lnSpcReduction="10000"/>
          </a:bodyPr>
          <a:lstStyle/>
          <a:p>
            <a:pPr algn="ctr">
              <a:defRPr sz="12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FM 承包商 + 商场/机场
先卖试点与本地 SLA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6D4866-7DF0-4E6E-82CA-403F344AD8EF}"/>
              </a:ext>
            </a:extLst>
          </p:cNvPr>
          <p:cNvSpPr>
            <a:spLocks noGrp="1"/>
          </p:cNvSpPr>
          <p:nvPr/>
        </p:nvSpPr>
        <p:spPr>
          <a:xfrm>
            <a:off x="5010150" y="5410200"/>
            <a:ext cx="203835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马来西亚 / 泰国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E2A572-C2CA-49D8-B3DD-34C7D21075FB}"/>
              </a:ext>
            </a:extLst>
          </p:cNvPr>
          <p:cNvSpPr>
            <a:spLocks noGrp="1"/>
          </p:cNvSpPr>
          <p:nvPr/>
        </p:nvSpPr>
        <p:spPr>
          <a:xfrm>
            <a:off x="4857750" y="5924550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 fontScale="95921" lnSpcReduction="10000"/>
          </a:bodyPr>
          <a:lstStyle/>
          <a:p>
            <a:pPr algn="ctr">
              <a:defRPr sz="12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经销商 + RaaS
商场、酒店与医疗公共区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7BF55A-1222-4A3A-AF86-01CA4F8EDDBB}"/>
              </a:ext>
            </a:extLst>
          </p:cNvPr>
          <p:cNvSpPr>
            <a:spLocks noGrp="1"/>
          </p:cNvSpPr>
          <p:nvPr/>
        </p:nvSpPr>
        <p:spPr>
          <a:xfrm>
            <a:off x="9429750" y="5410200"/>
            <a:ext cx="203835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9D72"/>
                </a:solidFill>
                <a:latin typeface="Helvetica Neue"/>
                <a:ea typeface="Helvetica Neue"/>
                <a:cs typeface="Helvetica Neue"/>
              </a:defRPr>
            </a:pPr>
            <a:r>
              <a:t>印尼 / 越南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70DAE93-4DA7-47F6-B7A2-249806F20841}"/>
              </a:ext>
            </a:extLst>
          </p:cNvPr>
          <p:cNvSpPr>
            <a:spLocks noGrp="1"/>
          </p:cNvSpPr>
          <p:nvPr/>
        </p:nvSpPr>
        <p:spPr>
          <a:xfrm>
            <a:off x="9277350" y="5924550"/>
            <a:ext cx="2381250" cy="361950"/>
          </a:xfrm>
          <a:prstGeom prst="rect">
            <a:avLst/>
          </a:prstGeom>
        </p:spPr>
        <p:txBody>
          <a:bodyPr wrap="square" lIns="0" tIns="0" rIns="0" bIns="0" anchor="t">
            <a:normAutofit fontScale="95921" lnSpcReduction="10000"/>
          </a:bodyPr>
          <a:lstStyle/>
          <a:p>
            <a:pPr algn="ctr">
              <a:defRPr sz="1238" b="0">
                <a:solidFill>
                  <a:srgbClr val="102335"/>
                </a:solidFill>
                <a:latin typeface="Helvetica Neue"/>
                <a:ea typeface="Helvetica Neue"/>
                <a:cs typeface="Helvetica Neue"/>
              </a:defRPr>
            </a:pPr>
            <a:r>
              <a:t>伙伴服务 + 工业场景
仓储、工厂与大型园区</a:t>
            </a: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1607234"/>
            <a:ext cx="4991100" cy="352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783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1791</Words>
  <Application>Microsoft Macintosh PowerPoint</Application>
  <DocSecurity>0</DocSecurity>
  <PresentationFormat>宽屏</PresentationFormat>
  <Paragraphs>255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tangxiaz</cp:lastModifiedBy>
  <cp:revision>1</cp:revision>
  <dcterms:created xsi:type="dcterms:W3CDTF">2026-07-23T16:36:53Z</dcterms:created>
  <dcterms:modified xsi:type="dcterms:W3CDTF">2026-07-23T16:41:44Z</dcterms:modified>
</cp:coreProperties>
</file>